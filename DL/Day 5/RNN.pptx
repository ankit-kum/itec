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21.xml" ContentType="application/inkml+xml"/>
  <Override PartName="/ppt/ink/ink22.xml" ContentType="application/inkml+xml"/>
  <Override PartName="/ppt/ink/ink23.xml" ContentType="application/inkml+xml"/>
  <Override PartName="/ppt/ink/ink6.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7.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24.xml" ContentType="application/inkml+xml"/>
  <Override PartName="/ppt/ink/ink5.xml" ContentType="application/inkml+xml"/>
  <Override PartName="/ppt/ink/ink20.xml" ContentType="application/inkml+xml"/>
  <Override PartName="/ppt/ink/ink4.xml" ContentType="application/inkml+xml"/>
  <Override PartName="/ppt/ink/ink3.xml" ContentType="application/inkml+xml"/>
  <Override PartName="/ppt/ink/ink2.xml" ContentType="application/inkml+xml"/>
  <Override PartName="/ppt/ink/ink1.xml" ContentType="application/inkml+xml"/>
  <Override PartName="/ppt/ink/ink19.xml" ContentType="application/inkml+xml"/>
  <Override PartName="/ppt/ink/ink18.xml" ContentType="application/inkml+xml"/>
  <Override PartName="/ppt/ink/ink17.xml" ContentType="application/inkml+xml"/>
  <Override PartName="/ppt/ink/ink16.xml" ContentType="application/inkml+xml"/>
  <Override PartName="/ppt/ink/ink15.xml" ContentType="application/inkml+xml"/>
  <Override PartName="/ppt/ink/ink14.xml" ContentType="application/inkml+xml"/>
  <Override PartName="/ppt/ink/ink13.xml" ContentType="application/inkml+xml"/>
  <Override PartName="/ppt/ink/ink12.xml" ContentType="application/inkml+xml"/>
  <Override PartName="/ppt/theme/theme1.xml" ContentType="application/vnd.openxmlformats-officedocument.theme+xml"/>
  <Override PartName="/ppt/ink/ink11.xml" ContentType="application/inkml+xml"/>
  <Override PartName="/ppt/ink/ink10.xml" ContentType="application/inkml+xml"/>
  <Override PartName="/ppt/ink/ink9.xml" ContentType="application/inkml+xml"/>
  <Override PartName="/ppt/ink/ink8.xml" ContentType="application/inkml+xml"/>
  <Override PartName="/ppt/ink/ink35.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87" r:id="rId2"/>
    <p:sldId id="385" r:id="rId3"/>
    <p:sldId id="386" r:id="rId4"/>
    <p:sldId id="388" r:id="rId5"/>
    <p:sldId id="389" r:id="rId6"/>
    <p:sldId id="391" r:id="rId7"/>
    <p:sldId id="392" r:id="rId8"/>
    <p:sldId id="393" r:id="rId9"/>
    <p:sldId id="394" r:id="rId10"/>
    <p:sldId id="395" r:id="rId11"/>
    <p:sldId id="400" r:id="rId12"/>
    <p:sldId id="409" r:id="rId13"/>
    <p:sldId id="402" r:id="rId14"/>
    <p:sldId id="403" r:id="rId15"/>
    <p:sldId id="404" r:id="rId16"/>
    <p:sldId id="405" r:id="rId17"/>
    <p:sldId id="406" r:id="rId18"/>
    <p:sldId id="407" r:id="rId19"/>
    <p:sldId id="408" r:id="rId20"/>
    <p:sldId id="410" r:id="rId21"/>
    <p:sldId id="41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3" autoAdjust="0"/>
    <p:restoredTop sz="94660"/>
  </p:normalViewPr>
  <p:slideViewPr>
    <p:cSldViewPr snapToGrid="0">
      <p:cViewPr varScale="1">
        <p:scale>
          <a:sx n="115" d="100"/>
          <a:sy n="115" d="100"/>
        </p:scale>
        <p:origin x="3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ustomXml" Target="../customXml/item1.xml"/></Relationships>
</file>

<file path=ppt/ink/ink1.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2.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3.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4.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5.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6.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7.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8.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9.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10.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11.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12.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13.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14.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15.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16.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17.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18.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19.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20.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21.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22.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23.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24.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25.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26.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27.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28.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29.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30.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31.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32.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33.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34.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35.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36.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37.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38.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39.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40.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41.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42.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741581-C4A6-43B7-A212-170C6B70A2D3}" type="datetimeFigureOut">
              <a:rPr lang="en-US" smtClean="0"/>
              <a:t>7/5/22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1378895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1581-C4A6-43B7-A212-170C6B70A2D3}" type="datetimeFigureOut">
              <a:rPr lang="en-US" smtClean="0"/>
              <a:t>7/5/22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4217395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A741581-C4A6-43B7-A212-170C6B70A2D3}" type="datetimeFigureOut">
              <a:rPr lang="en-US" smtClean="0"/>
              <a:t>7/5/22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1044269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A741581-C4A6-43B7-A212-170C6B70A2D3}" type="datetimeFigureOut">
              <a:rPr lang="en-US" smtClean="0"/>
              <a:t>7/5/22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1177938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A741581-C4A6-43B7-A212-170C6B70A2D3}" type="datetimeFigureOut">
              <a:rPr lang="en-US" smtClean="0"/>
              <a:t>7/5/22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3723773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741581-C4A6-43B7-A212-170C6B70A2D3}" type="datetimeFigureOut">
              <a:rPr lang="en-US" smtClean="0"/>
              <a:t>7/5/22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2227087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741581-C4A6-43B7-A212-170C6B70A2D3}" type="datetimeFigureOut">
              <a:rPr lang="en-US" smtClean="0"/>
              <a:t>7/5/22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2470718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A741581-C4A6-43B7-A212-170C6B70A2D3}" type="datetimeFigureOut">
              <a:rPr lang="en-US" smtClean="0"/>
              <a:t>7/5/22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781496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A741581-C4A6-43B7-A212-170C6B70A2D3}" type="datetimeFigureOut">
              <a:rPr lang="en-US" smtClean="0"/>
              <a:t>7/5/22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2846353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1581-C4A6-43B7-A212-170C6B70A2D3}" type="datetimeFigureOut">
              <a:rPr lang="en-US" smtClean="0"/>
              <a:t>7/5/22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3323537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1581-C4A6-43B7-A212-170C6B70A2D3}" type="datetimeFigureOut">
              <a:rPr lang="en-US" smtClean="0"/>
              <a:t>7/5/22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3240820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741581-C4A6-43B7-A212-170C6B70A2D3}" type="datetimeFigureOut">
              <a:rPr lang="en-US" smtClean="0"/>
              <a:t>7/5/22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E78C1A-3B63-442D-B98F-F162A1F3FBFA}" type="slidenum">
              <a:rPr lang="en-US" smtClean="0"/>
              <a:t>‹#›</a:t>
            </a:fld>
            <a:endParaRPr lang="en-US"/>
          </a:p>
        </p:txBody>
      </p:sp>
    </p:spTree>
    <p:extLst>
      <p:ext uri="{BB962C8B-B14F-4D97-AF65-F5344CB8AC3E}">
        <p14:creationId xmlns:p14="http://schemas.microsoft.com/office/powerpoint/2010/main" val="246336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2.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image" Target="../media/image46.emf"/></Relationships>
</file>

<file path=ppt/slides/_rels/slide2.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4.xml"/><Relationship Id="rId2" Type="http://schemas.openxmlformats.org/officeDocument/2006/relationships/customXml" Target="../ink/ink3.xml"/><Relationship Id="rId1" Type="http://schemas.openxmlformats.org/officeDocument/2006/relationships/slideLayout" Target="../slideLayouts/slideLayout1.xml"/><Relationship Id="rId6" Type="http://schemas.openxmlformats.org/officeDocument/2006/relationships/image" Target="../media/image46.emf"/><Relationship Id="rId10" Type="http://schemas.microsoft.com/office/2007/relationships/hdphoto" Target="../media/hdphoto1.wdp"/><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6.xml"/><Relationship Id="rId2" Type="http://schemas.openxmlformats.org/officeDocument/2006/relationships/customXml" Target="../ink/ink5.xml"/><Relationship Id="rId1" Type="http://schemas.openxmlformats.org/officeDocument/2006/relationships/slideLayout" Target="../slideLayouts/slideLayout1.xml"/><Relationship Id="rId6" Type="http://schemas.openxmlformats.org/officeDocument/2006/relationships/image" Target="../media/image46.emf"/></Relationships>
</file>

<file path=ppt/slides/_rels/slide4.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8.xml"/><Relationship Id="rId2" Type="http://schemas.openxmlformats.org/officeDocument/2006/relationships/customXml" Target="../ink/ink7.xml"/><Relationship Id="rId1" Type="http://schemas.openxmlformats.org/officeDocument/2006/relationships/slideLayout" Target="../slideLayouts/slideLayout1.xml"/><Relationship Id="rId6" Type="http://schemas.openxmlformats.org/officeDocument/2006/relationships/image" Target="../media/image46.emf"/><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10.xml"/><Relationship Id="rId2" Type="http://schemas.openxmlformats.org/officeDocument/2006/relationships/customXml" Target="../ink/ink9.xml"/><Relationship Id="rId1" Type="http://schemas.openxmlformats.org/officeDocument/2006/relationships/slideLayout" Target="../slideLayouts/slideLayout1.xml"/><Relationship Id="rId6" Type="http://schemas.openxmlformats.org/officeDocument/2006/relationships/image" Target="../media/image46.emf"/><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12.xml"/><Relationship Id="rId2" Type="http://schemas.openxmlformats.org/officeDocument/2006/relationships/customXml" Target="../ink/ink11.xml"/><Relationship Id="rId1" Type="http://schemas.openxmlformats.org/officeDocument/2006/relationships/slideLayout" Target="../slideLayouts/slideLayout1.xml"/><Relationship Id="rId6" Type="http://schemas.openxmlformats.org/officeDocument/2006/relationships/image" Target="../media/image46.emf"/><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14.xml"/><Relationship Id="rId2" Type="http://schemas.openxmlformats.org/officeDocument/2006/relationships/customXml" Target="../ink/ink13.xml"/><Relationship Id="rId1" Type="http://schemas.openxmlformats.org/officeDocument/2006/relationships/slideLayout" Target="../slideLayouts/slideLayout1.xml"/><Relationship Id="rId6" Type="http://schemas.openxmlformats.org/officeDocument/2006/relationships/image" Target="../media/image46.emf"/><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16.xml"/><Relationship Id="rId2" Type="http://schemas.openxmlformats.org/officeDocument/2006/relationships/customXml" Target="../ink/ink15.xml"/><Relationship Id="rId1" Type="http://schemas.openxmlformats.org/officeDocument/2006/relationships/slideLayout" Target="../slideLayouts/slideLayout1.xml"/><Relationship Id="rId6" Type="http://schemas.openxmlformats.org/officeDocument/2006/relationships/image" Target="../media/image46.emf"/><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18.xml"/><Relationship Id="rId2" Type="http://schemas.openxmlformats.org/officeDocument/2006/relationships/customXml" Target="../ink/ink17.xml"/><Relationship Id="rId1" Type="http://schemas.openxmlformats.org/officeDocument/2006/relationships/slideLayout" Target="../slideLayouts/slideLayout1.xml"/><Relationship Id="rId6" Type="http://schemas.openxmlformats.org/officeDocument/2006/relationships/image" Target="../media/image46.emf"/><Relationship Id="rId10" Type="http://schemas.openxmlformats.org/officeDocument/2006/relationships/image" Target="../media/image7.png"/><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20.xml"/><Relationship Id="rId12" Type="http://schemas.microsoft.com/office/2007/relationships/hdphoto" Target="../media/hdphoto3.wdp"/><Relationship Id="rId2" Type="http://schemas.openxmlformats.org/officeDocument/2006/relationships/customXml" Target="../ink/ink19.xml"/><Relationship Id="rId1" Type="http://schemas.openxmlformats.org/officeDocument/2006/relationships/slideLayout" Target="../slideLayouts/slideLayout1.xml"/><Relationship Id="rId6" Type="http://schemas.openxmlformats.org/officeDocument/2006/relationships/image" Target="../media/image46.emf"/><Relationship Id="rId11" Type="http://schemas.openxmlformats.org/officeDocument/2006/relationships/image" Target="../media/image9.png"/><Relationship Id="rId10" Type="http://schemas.microsoft.com/office/2007/relationships/hdphoto" Target="../media/hdphoto2.wdp"/><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22.xml"/><Relationship Id="rId2" Type="http://schemas.openxmlformats.org/officeDocument/2006/relationships/customXml" Target="../ink/ink21.xml"/><Relationship Id="rId1" Type="http://schemas.openxmlformats.org/officeDocument/2006/relationships/slideLayout" Target="../slideLayouts/slideLayout1.xml"/><Relationship Id="rId6" Type="http://schemas.openxmlformats.org/officeDocument/2006/relationships/image" Target="../media/image46.emf"/></Relationships>
</file>

<file path=ppt/slides/_rels/slide12.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24.xml"/><Relationship Id="rId2" Type="http://schemas.openxmlformats.org/officeDocument/2006/relationships/customXml" Target="../ink/ink23.xml"/><Relationship Id="rId1" Type="http://schemas.openxmlformats.org/officeDocument/2006/relationships/slideLayout" Target="../slideLayouts/slideLayout1.xml"/><Relationship Id="rId6" Type="http://schemas.openxmlformats.org/officeDocument/2006/relationships/image" Target="../media/image46.emf"/><Relationship Id="rId11" Type="http://schemas.openxmlformats.org/officeDocument/2006/relationships/image" Target="../media/image11.png"/><Relationship Id="rId10" Type="http://schemas.openxmlformats.org/officeDocument/2006/relationships/image" Target="../media/image3.png"/><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26.xml"/><Relationship Id="rId2" Type="http://schemas.openxmlformats.org/officeDocument/2006/relationships/customXml" Target="../ink/ink25.xml"/><Relationship Id="rId1" Type="http://schemas.openxmlformats.org/officeDocument/2006/relationships/slideLayout" Target="../slideLayouts/slideLayout1.xml"/><Relationship Id="rId6" Type="http://schemas.openxmlformats.org/officeDocument/2006/relationships/image" Target="../media/image46.emf"/><Relationship Id="rId9" Type="http://schemas.openxmlformats.org/officeDocument/2006/relationships/image" Target="../media/image12.gif"/></Relationships>
</file>

<file path=ppt/slides/_rels/slide14.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28.xml"/><Relationship Id="rId2" Type="http://schemas.openxmlformats.org/officeDocument/2006/relationships/customXml" Target="../ink/ink27.xml"/><Relationship Id="rId1" Type="http://schemas.openxmlformats.org/officeDocument/2006/relationships/slideLayout" Target="../slideLayouts/slideLayout1.xml"/><Relationship Id="rId6" Type="http://schemas.openxmlformats.org/officeDocument/2006/relationships/image" Target="../media/image46.emf"/><Relationship Id="rId9" Type="http://schemas.openxmlformats.org/officeDocument/2006/relationships/image" Target="../media/image13.gif"/></Relationships>
</file>

<file path=ppt/slides/_rels/slide15.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30.xml"/><Relationship Id="rId2" Type="http://schemas.openxmlformats.org/officeDocument/2006/relationships/customXml" Target="../ink/ink29.xml"/><Relationship Id="rId1" Type="http://schemas.openxmlformats.org/officeDocument/2006/relationships/slideLayout" Target="../slideLayouts/slideLayout1.xml"/><Relationship Id="rId6" Type="http://schemas.openxmlformats.org/officeDocument/2006/relationships/image" Target="../media/image46.emf"/><Relationship Id="rId9" Type="http://schemas.openxmlformats.org/officeDocument/2006/relationships/image" Target="../media/image14.gif"/></Relationships>
</file>

<file path=ppt/slides/_rels/slide16.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32.xml"/><Relationship Id="rId2" Type="http://schemas.openxmlformats.org/officeDocument/2006/relationships/customXml" Target="../ink/ink31.xml"/><Relationship Id="rId1" Type="http://schemas.openxmlformats.org/officeDocument/2006/relationships/slideLayout" Target="../slideLayouts/slideLayout1.xml"/><Relationship Id="rId6" Type="http://schemas.openxmlformats.org/officeDocument/2006/relationships/image" Target="../media/image46.emf"/><Relationship Id="rId11" Type="http://schemas.microsoft.com/office/2007/relationships/hdphoto" Target="../media/hdphoto4.wdp"/><Relationship Id="rId10" Type="http://schemas.openxmlformats.org/officeDocument/2006/relationships/image" Target="../media/image16.pn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34.xml"/><Relationship Id="rId12" Type="http://schemas.microsoft.com/office/2007/relationships/hdphoto" Target="../media/hdphoto6.wdp"/><Relationship Id="rId2" Type="http://schemas.openxmlformats.org/officeDocument/2006/relationships/customXml" Target="../ink/ink33.xml"/><Relationship Id="rId1" Type="http://schemas.openxmlformats.org/officeDocument/2006/relationships/slideLayout" Target="../slideLayouts/slideLayout1.xml"/><Relationship Id="rId6" Type="http://schemas.openxmlformats.org/officeDocument/2006/relationships/image" Target="../media/image46.emf"/><Relationship Id="rId11" Type="http://schemas.openxmlformats.org/officeDocument/2006/relationships/image" Target="../media/image18.png"/><Relationship Id="rId10" Type="http://schemas.microsoft.com/office/2007/relationships/hdphoto" Target="../media/hdphoto5.wdp"/><Relationship Id="rId9" Type="http://schemas.openxmlformats.org/officeDocument/2006/relationships/image" Target="../media/image17.png"/></Relationships>
</file>

<file path=ppt/slides/_rels/slide18.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36.xml"/><Relationship Id="rId2" Type="http://schemas.openxmlformats.org/officeDocument/2006/relationships/customXml" Target="../ink/ink35.xml"/><Relationship Id="rId1" Type="http://schemas.openxmlformats.org/officeDocument/2006/relationships/slideLayout" Target="../slideLayouts/slideLayout1.xml"/><Relationship Id="rId6" Type="http://schemas.openxmlformats.org/officeDocument/2006/relationships/image" Target="../media/image46.emf"/></Relationships>
</file>

<file path=ppt/slides/_rels/slide19.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38.xml"/><Relationship Id="rId2" Type="http://schemas.openxmlformats.org/officeDocument/2006/relationships/customXml" Target="../ink/ink37.xml"/><Relationship Id="rId1" Type="http://schemas.openxmlformats.org/officeDocument/2006/relationships/slideLayout" Target="../slideLayouts/slideLayout1.xml"/><Relationship Id="rId6" Type="http://schemas.openxmlformats.org/officeDocument/2006/relationships/image" Target="../media/image46.emf"/><Relationship Id="rId10" Type="http://schemas.openxmlformats.org/officeDocument/2006/relationships/image" Target="../media/image20.gif"/><Relationship Id="rId9" Type="http://schemas.openxmlformats.org/officeDocument/2006/relationships/image" Target="../media/image19.png"/></Relationships>
</file>

<file path=ppt/slides/_rels/slide20.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40.xml"/><Relationship Id="rId2" Type="http://schemas.openxmlformats.org/officeDocument/2006/relationships/customXml" Target="../ink/ink39.xml"/><Relationship Id="rId1" Type="http://schemas.openxmlformats.org/officeDocument/2006/relationships/slideLayout" Target="../slideLayouts/slideLayout1.xml"/><Relationship Id="rId6" Type="http://schemas.openxmlformats.org/officeDocument/2006/relationships/image" Target="../media/image46.emf"/><Relationship Id="rId9" Type="http://schemas.openxmlformats.org/officeDocument/2006/relationships/image" Target="../media/image21.PNG"/></Relationships>
</file>

<file path=ppt/slides/_rels/slide21.xml.rels><?xml version="1.0" encoding="UTF-8" standalone="yes"?>
<Relationships xmlns="http://schemas.openxmlformats.org/package/2006/relationships"><Relationship Id="rId8" Type="http://schemas.openxmlformats.org/officeDocument/2006/relationships/image" Target="../media/image52.emf"/><Relationship Id="rId7" Type="http://schemas.openxmlformats.org/officeDocument/2006/relationships/customXml" Target="../ink/ink42.xml"/><Relationship Id="rId2" Type="http://schemas.openxmlformats.org/officeDocument/2006/relationships/customXml" Target="../ink/ink41.xml"/><Relationship Id="rId1" Type="http://schemas.openxmlformats.org/officeDocument/2006/relationships/slideLayout" Target="../slideLayouts/slideLayout1.xml"/><Relationship Id="rId6" Type="http://schemas.openxmlformats.org/officeDocument/2006/relationships/image" Target="../media/image46.emf"/><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7" name="Rectangle 6">
            <a:extLst>
              <a:ext uri="{FF2B5EF4-FFF2-40B4-BE49-F238E27FC236}">
                <a16:creationId xmlns:a16="http://schemas.microsoft.com/office/drawing/2014/main" id="{58B0D7EB-B402-4201-B667-FD190A90E4E2}"/>
              </a:ext>
            </a:extLst>
          </p:cNvPr>
          <p:cNvSpPr/>
          <p:nvPr/>
        </p:nvSpPr>
        <p:spPr>
          <a:xfrm>
            <a:off x="2077111" y="2885970"/>
            <a:ext cx="8037778" cy="923330"/>
          </a:xfrm>
          <a:prstGeom prst="rect">
            <a:avLst/>
          </a:prstGeom>
        </p:spPr>
        <p:txBody>
          <a:bodyPr wrap="none">
            <a:spAutoFit/>
          </a:bodyPr>
          <a:lstStyle/>
          <a:p>
            <a:r>
              <a:rPr lang="en-US" sz="5400" b="1" dirty="0">
                <a:latin typeface="APPLE CHANCERY" panose="03020702040506060504" pitchFamily="66" charset="-79"/>
                <a:cs typeface="APPLE CHANCERY" panose="03020702040506060504" pitchFamily="66" charset="-79"/>
              </a:rPr>
              <a:t>Recurrent Neural Network</a:t>
            </a:r>
          </a:p>
        </p:txBody>
      </p:sp>
    </p:spTree>
    <p:extLst>
      <p:ext uri="{BB962C8B-B14F-4D97-AF65-F5344CB8AC3E}">
        <p14:creationId xmlns:p14="http://schemas.microsoft.com/office/powerpoint/2010/main" val="2606557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pic>
        <p:nvPicPr>
          <p:cNvPr id="13" name="Picture 12">
            <a:extLst>
              <a:ext uri="{FF2B5EF4-FFF2-40B4-BE49-F238E27FC236}">
                <a16:creationId xmlns:a16="http://schemas.microsoft.com/office/drawing/2014/main" id="{6DCF803F-BB82-4704-8405-A163395ED7A0}"/>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val="0"/>
              </a:ext>
            </a:extLst>
          </a:blip>
          <a:stretch>
            <a:fillRect/>
          </a:stretch>
        </p:blipFill>
        <p:spPr>
          <a:xfrm>
            <a:off x="2913048" y="1014761"/>
            <a:ext cx="6365904" cy="5687123"/>
          </a:xfrm>
          <a:prstGeom prst="rect">
            <a:avLst/>
          </a:prstGeom>
        </p:spPr>
      </p:pic>
    </p:spTree>
    <p:extLst>
      <p:ext uri="{BB962C8B-B14F-4D97-AF65-F5344CB8AC3E}">
        <p14:creationId xmlns:p14="http://schemas.microsoft.com/office/powerpoint/2010/main" val="2634096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14" name="Rectangle 13">
            <a:extLst>
              <a:ext uri="{FF2B5EF4-FFF2-40B4-BE49-F238E27FC236}">
                <a16:creationId xmlns:a16="http://schemas.microsoft.com/office/drawing/2014/main" id="{9439653B-D709-449A-9B62-509A7E9D3B14}"/>
              </a:ext>
            </a:extLst>
          </p:cNvPr>
          <p:cNvSpPr/>
          <p:nvPr/>
        </p:nvSpPr>
        <p:spPr>
          <a:xfrm>
            <a:off x="2864053" y="289931"/>
            <a:ext cx="6463884" cy="646331"/>
          </a:xfrm>
          <a:prstGeom prst="rect">
            <a:avLst/>
          </a:prstGeom>
        </p:spPr>
        <p:txBody>
          <a:bodyPr wrap="none">
            <a:spAutoFit/>
          </a:bodyPr>
          <a:lstStyle/>
          <a:p>
            <a:pPr algn="ctr"/>
            <a:r>
              <a:rPr lang="en-US" sz="3600" b="1" dirty="0">
                <a:solidFill>
                  <a:srgbClr val="7030A0"/>
                </a:solidFill>
                <a:cs typeface="APPLE CHANCERY" panose="03020702040506060504" pitchFamily="66" charset="-79"/>
              </a:rPr>
              <a:t>Recurrent Neural Network (RNN)</a:t>
            </a:r>
          </a:p>
        </p:txBody>
      </p:sp>
      <p:sp>
        <p:nvSpPr>
          <p:cNvPr id="3" name="Rectangle 2">
            <a:extLst>
              <a:ext uri="{FF2B5EF4-FFF2-40B4-BE49-F238E27FC236}">
                <a16:creationId xmlns:a16="http://schemas.microsoft.com/office/drawing/2014/main" id="{80485E89-047B-4A90-8795-E0DF530CA7D5}"/>
              </a:ext>
            </a:extLst>
          </p:cNvPr>
          <p:cNvSpPr/>
          <p:nvPr/>
        </p:nvSpPr>
        <p:spPr>
          <a:xfrm>
            <a:off x="62749" y="1104846"/>
            <a:ext cx="12066495" cy="5262979"/>
          </a:xfrm>
          <a:prstGeom prst="rect">
            <a:avLst/>
          </a:prstGeom>
        </p:spPr>
        <p:txBody>
          <a:bodyPr wrap="square">
            <a:spAutoFit/>
          </a:bodyPr>
          <a:lstStyle/>
          <a:p>
            <a:pPr algn="just"/>
            <a:r>
              <a:rPr lang="en-US" sz="2800" dirty="0">
                <a:latin typeface="medium-content-serif-font"/>
              </a:rPr>
              <a:t>	Recurrent Neural Network is a generalization of feedforward neural network that has an internal memory. RNN is recurrent in nature as it performs the same function for every input of data while the output of the current input depends on the past one computation. After producing the output, it is copied and sent back into the recurrent network. For making a decision, it considers the current input and the output that it has learned from the previous input.</a:t>
            </a:r>
          </a:p>
          <a:p>
            <a:pPr algn="just"/>
            <a:endParaRPr lang="en-US" sz="2800" dirty="0">
              <a:latin typeface="medium-content-serif-font"/>
            </a:endParaRPr>
          </a:p>
          <a:p>
            <a:pPr algn="just"/>
            <a:r>
              <a:rPr lang="en-US" sz="2800" dirty="0">
                <a:latin typeface="medium-content-serif-font"/>
              </a:rPr>
              <a:t>	Unlike feedforward neural networks, RNNs can use their internal state (memory) to process sequences of inputs. This makes them applicable to tasks such as unsegmented, connected handwriting recognition or speech recognition. In other neural networks, all the inputs are independent of each other. But in RNN, all the inputs are related to each other.</a:t>
            </a:r>
            <a:endParaRPr lang="en-US" sz="2800" b="0" i="0" dirty="0">
              <a:effectLst/>
              <a:latin typeface="medium-content-serif-font"/>
            </a:endParaRPr>
          </a:p>
        </p:txBody>
      </p:sp>
    </p:spTree>
    <p:extLst>
      <p:ext uri="{BB962C8B-B14F-4D97-AF65-F5344CB8AC3E}">
        <p14:creationId xmlns:p14="http://schemas.microsoft.com/office/powerpoint/2010/main" val="2114148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14" name="Rectangle 13">
            <a:extLst>
              <a:ext uri="{FF2B5EF4-FFF2-40B4-BE49-F238E27FC236}">
                <a16:creationId xmlns:a16="http://schemas.microsoft.com/office/drawing/2014/main" id="{9439653B-D709-449A-9B62-509A7E9D3B14}"/>
              </a:ext>
            </a:extLst>
          </p:cNvPr>
          <p:cNvSpPr/>
          <p:nvPr/>
        </p:nvSpPr>
        <p:spPr>
          <a:xfrm>
            <a:off x="2626731" y="312234"/>
            <a:ext cx="6448625" cy="646331"/>
          </a:xfrm>
          <a:prstGeom prst="rect">
            <a:avLst/>
          </a:prstGeom>
        </p:spPr>
        <p:txBody>
          <a:bodyPr wrap="none">
            <a:spAutoFit/>
          </a:bodyPr>
          <a:lstStyle/>
          <a:p>
            <a:r>
              <a:rPr lang="en-US" sz="3600" b="1" dirty="0">
                <a:solidFill>
                  <a:srgbClr val="7030A0"/>
                </a:solidFill>
              </a:rPr>
              <a:t>RNN Architecture and Working…</a:t>
            </a:r>
          </a:p>
        </p:txBody>
      </p:sp>
      <p:pic>
        <p:nvPicPr>
          <p:cNvPr id="6" name="Picture 5">
            <a:extLst>
              <a:ext uri="{FF2B5EF4-FFF2-40B4-BE49-F238E27FC236}">
                <a16:creationId xmlns:a16="http://schemas.microsoft.com/office/drawing/2014/main" id="{A2DE2238-FEFF-4F89-A470-6866B6833E4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79547" y="1273687"/>
            <a:ext cx="5188413" cy="2718450"/>
          </a:xfrm>
          <a:prstGeom prst="rect">
            <a:avLst/>
          </a:prstGeom>
        </p:spPr>
      </p:pic>
    </p:spTree>
    <p:extLst>
      <p:ext uri="{BB962C8B-B14F-4D97-AF65-F5344CB8AC3E}">
        <p14:creationId xmlns:p14="http://schemas.microsoft.com/office/powerpoint/2010/main" val="2671201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14" name="Rectangle 13">
            <a:extLst>
              <a:ext uri="{FF2B5EF4-FFF2-40B4-BE49-F238E27FC236}">
                <a16:creationId xmlns:a16="http://schemas.microsoft.com/office/drawing/2014/main" id="{9439653B-D709-449A-9B62-509A7E9D3B14}"/>
              </a:ext>
            </a:extLst>
          </p:cNvPr>
          <p:cNvSpPr/>
          <p:nvPr/>
        </p:nvSpPr>
        <p:spPr>
          <a:xfrm>
            <a:off x="3463073" y="211873"/>
            <a:ext cx="4506170" cy="646331"/>
          </a:xfrm>
          <a:prstGeom prst="rect">
            <a:avLst/>
          </a:prstGeom>
        </p:spPr>
        <p:txBody>
          <a:bodyPr wrap="none">
            <a:spAutoFit/>
          </a:bodyPr>
          <a:lstStyle/>
          <a:p>
            <a:r>
              <a:rPr lang="en-US" sz="3600" b="1" dirty="0">
                <a:solidFill>
                  <a:srgbClr val="7030A0"/>
                </a:solidFill>
              </a:rPr>
              <a:t>Unfold the RNN Layers</a:t>
            </a:r>
          </a:p>
        </p:txBody>
      </p:sp>
      <p:pic>
        <p:nvPicPr>
          <p:cNvPr id="5" name="Picture 4">
            <a:extLst>
              <a:ext uri="{FF2B5EF4-FFF2-40B4-BE49-F238E27FC236}">
                <a16:creationId xmlns:a16="http://schemas.microsoft.com/office/drawing/2014/main" id="{E510D76F-C177-4F9F-A3F7-B383890C8B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8948" y="1427530"/>
            <a:ext cx="10314104" cy="4205980"/>
          </a:xfrm>
          <a:prstGeom prst="rect">
            <a:avLst/>
          </a:prstGeom>
        </p:spPr>
      </p:pic>
    </p:spTree>
    <p:extLst>
      <p:ext uri="{BB962C8B-B14F-4D97-AF65-F5344CB8AC3E}">
        <p14:creationId xmlns:p14="http://schemas.microsoft.com/office/powerpoint/2010/main" val="2493310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14" name="Rectangle 13">
            <a:extLst>
              <a:ext uri="{FF2B5EF4-FFF2-40B4-BE49-F238E27FC236}">
                <a16:creationId xmlns:a16="http://schemas.microsoft.com/office/drawing/2014/main" id="{9439653B-D709-449A-9B62-509A7E9D3B14}"/>
              </a:ext>
            </a:extLst>
          </p:cNvPr>
          <p:cNvSpPr/>
          <p:nvPr/>
        </p:nvSpPr>
        <p:spPr>
          <a:xfrm>
            <a:off x="1234124" y="242793"/>
            <a:ext cx="9723752" cy="646331"/>
          </a:xfrm>
          <a:prstGeom prst="rect">
            <a:avLst/>
          </a:prstGeom>
        </p:spPr>
        <p:txBody>
          <a:bodyPr wrap="none">
            <a:spAutoFit/>
          </a:bodyPr>
          <a:lstStyle/>
          <a:p>
            <a:r>
              <a:rPr lang="en-US" sz="3600" b="1" dirty="0">
                <a:solidFill>
                  <a:srgbClr val="7030A0"/>
                </a:solidFill>
              </a:rPr>
              <a:t>Examples of RNN with respect to the relationships</a:t>
            </a:r>
          </a:p>
        </p:txBody>
      </p:sp>
      <p:pic>
        <p:nvPicPr>
          <p:cNvPr id="5" name="Picture 4">
            <a:extLst>
              <a:ext uri="{FF2B5EF4-FFF2-40B4-BE49-F238E27FC236}">
                <a16:creationId xmlns:a16="http://schemas.microsoft.com/office/drawing/2014/main" id="{9EE2E337-851E-4A97-89C4-0B1D2A1D126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21112" y="1360642"/>
            <a:ext cx="11117357" cy="4701807"/>
          </a:xfrm>
          <a:prstGeom prst="rect">
            <a:avLst/>
          </a:prstGeom>
        </p:spPr>
      </p:pic>
    </p:spTree>
    <p:extLst>
      <p:ext uri="{BB962C8B-B14F-4D97-AF65-F5344CB8AC3E}">
        <p14:creationId xmlns:p14="http://schemas.microsoft.com/office/powerpoint/2010/main" val="2131136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14" name="Rectangle 13">
            <a:extLst>
              <a:ext uri="{FF2B5EF4-FFF2-40B4-BE49-F238E27FC236}">
                <a16:creationId xmlns:a16="http://schemas.microsoft.com/office/drawing/2014/main" id="{9439653B-D709-449A-9B62-509A7E9D3B14}"/>
              </a:ext>
            </a:extLst>
          </p:cNvPr>
          <p:cNvSpPr/>
          <p:nvPr/>
        </p:nvSpPr>
        <p:spPr>
          <a:xfrm>
            <a:off x="465003" y="152909"/>
            <a:ext cx="11261994" cy="707886"/>
          </a:xfrm>
          <a:prstGeom prst="rect">
            <a:avLst/>
          </a:prstGeom>
        </p:spPr>
        <p:txBody>
          <a:bodyPr wrap="none">
            <a:spAutoFit/>
          </a:bodyPr>
          <a:lstStyle/>
          <a:p>
            <a:pPr algn="ctr"/>
            <a:r>
              <a:rPr lang="en-US" sz="4000" b="1" dirty="0">
                <a:solidFill>
                  <a:schemeClr val="accent6"/>
                </a:solidFill>
              </a:rPr>
              <a:t>What is Time series Analysis, How relate it is RNN to</a:t>
            </a:r>
          </a:p>
        </p:txBody>
      </p:sp>
      <p:sp>
        <p:nvSpPr>
          <p:cNvPr id="17" name="Rectangle 16">
            <a:extLst>
              <a:ext uri="{FF2B5EF4-FFF2-40B4-BE49-F238E27FC236}">
                <a16:creationId xmlns:a16="http://schemas.microsoft.com/office/drawing/2014/main" id="{5DEBD0B1-B2AB-40C5-B226-8AE407E78F91}"/>
              </a:ext>
            </a:extLst>
          </p:cNvPr>
          <p:cNvSpPr/>
          <p:nvPr/>
        </p:nvSpPr>
        <p:spPr>
          <a:xfrm>
            <a:off x="324975" y="4189254"/>
            <a:ext cx="7549348" cy="1384995"/>
          </a:xfrm>
          <a:prstGeom prst="rect">
            <a:avLst/>
          </a:prstGeom>
        </p:spPr>
        <p:txBody>
          <a:bodyPr wrap="square">
            <a:spAutoFit/>
          </a:bodyPr>
          <a:lstStyle/>
          <a:p>
            <a:r>
              <a:rPr lang="en-US" sz="2800" dirty="0">
                <a:solidFill>
                  <a:schemeClr val="accent6">
                    <a:lumMod val="50000"/>
                  </a:schemeClr>
                </a:solidFill>
              </a:rPr>
              <a:t>Time series model is purely dependent on the idea that past behavior and price patterns can be used to predict future price behavior.</a:t>
            </a:r>
          </a:p>
        </p:txBody>
      </p:sp>
      <p:pic>
        <p:nvPicPr>
          <p:cNvPr id="19" name="Picture 18">
            <a:extLst>
              <a:ext uri="{FF2B5EF4-FFF2-40B4-BE49-F238E27FC236}">
                <a16:creationId xmlns:a16="http://schemas.microsoft.com/office/drawing/2014/main" id="{FE544623-56E8-4746-AE06-1DA7FFA4EC5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41839" y="1665029"/>
            <a:ext cx="3512935" cy="2922526"/>
          </a:xfrm>
          <a:prstGeom prst="rect">
            <a:avLst/>
          </a:prstGeom>
        </p:spPr>
      </p:pic>
      <p:sp>
        <p:nvSpPr>
          <p:cNvPr id="21" name="Rectangle 20">
            <a:extLst>
              <a:ext uri="{FF2B5EF4-FFF2-40B4-BE49-F238E27FC236}">
                <a16:creationId xmlns:a16="http://schemas.microsoft.com/office/drawing/2014/main" id="{E8DAEC9A-958B-46B0-AAF8-34A55B1D1E82}"/>
              </a:ext>
            </a:extLst>
          </p:cNvPr>
          <p:cNvSpPr/>
          <p:nvPr/>
        </p:nvSpPr>
        <p:spPr>
          <a:xfrm>
            <a:off x="324975" y="1283751"/>
            <a:ext cx="7379745" cy="2246769"/>
          </a:xfrm>
          <a:prstGeom prst="rect">
            <a:avLst/>
          </a:prstGeom>
        </p:spPr>
        <p:txBody>
          <a:bodyPr wrap="square">
            <a:spAutoFit/>
          </a:bodyPr>
          <a:lstStyle/>
          <a:p>
            <a:r>
              <a:rPr lang="en-US" sz="2800" dirty="0">
                <a:solidFill>
                  <a:srgbClr val="002060"/>
                </a:solidFill>
              </a:rPr>
              <a:t>A time series is a series of data points indexed in time order. Most commonly, a time series is a sequence taken at successive equally spaced points in time. Thus it is a sequence of discrete-time data</a:t>
            </a:r>
          </a:p>
        </p:txBody>
      </p:sp>
    </p:spTree>
    <p:extLst>
      <p:ext uri="{BB962C8B-B14F-4D97-AF65-F5344CB8AC3E}">
        <p14:creationId xmlns:p14="http://schemas.microsoft.com/office/powerpoint/2010/main" val="2008337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8" name="Rectangle 7">
            <a:extLst>
              <a:ext uri="{FF2B5EF4-FFF2-40B4-BE49-F238E27FC236}">
                <a16:creationId xmlns:a16="http://schemas.microsoft.com/office/drawing/2014/main" id="{61745012-0250-4AC2-8F43-7BDFD595AD82}"/>
              </a:ext>
            </a:extLst>
          </p:cNvPr>
          <p:cNvSpPr/>
          <p:nvPr/>
        </p:nvSpPr>
        <p:spPr>
          <a:xfrm>
            <a:off x="7820809" y="3765176"/>
            <a:ext cx="2817784" cy="200665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6633811F-1946-49E0-9DC0-9D0DE5432A84}"/>
              </a:ext>
            </a:extLst>
          </p:cNvPr>
          <p:cNvSpPr/>
          <p:nvPr/>
        </p:nvSpPr>
        <p:spPr>
          <a:xfrm>
            <a:off x="3226136" y="104974"/>
            <a:ext cx="5544467" cy="646331"/>
          </a:xfrm>
          <a:prstGeom prst="rect">
            <a:avLst/>
          </a:prstGeom>
        </p:spPr>
        <p:txBody>
          <a:bodyPr wrap="none">
            <a:spAutoFit/>
          </a:bodyPr>
          <a:lstStyle/>
          <a:p>
            <a:r>
              <a:rPr lang="en-US" sz="3600" b="1" dirty="0">
                <a:solidFill>
                  <a:srgbClr val="002060"/>
                </a:solidFill>
              </a:rPr>
              <a:t>Vanishing Gradient problem</a:t>
            </a:r>
          </a:p>
        </p:txBody>
      </p:sp>
      <p:pic>
        <p:nvPicPr>
          <p:cNvPr id="16" name="Picture 15">
            <a:extLst>
              <a:ext uri="{FF2B5EF4-FFF2-40B4-BE49-F238E27FC236}">
                <a16:creationId xmlns:a16="http://schemas.microsoft.com/office/drawing/2014/main" id="{E297AE54-002B-43D0-874D-EAD1A270BBA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40282" y="2672170"/>
            <a:ext cx="8911436" cy="3633986"/>
          </a:xfrm>
          <a:prstGeom prst="rect">
            <a:avLst/>
          </a:prstGeom>
        </p:spPr>
      </p:pic>
      <p:sp>
        <p:nvSpPr>
          <p:cNvPr id="17" name="Rectangle 16">
            <a:extLst>
              <a:ext uri="{FF2B5EF4-FFF2-40B4-BE49-F238E27FC236}">
                <a16:creationId xmlns:a16="http://schemas.microsoft.com/office/drawing/2014/main" id="{2C68746E-1B2A-419D-9728-A9428B1C7563}"/>
              </a:ext>
            </a:extLst>
          </p:cNvPr>
          <p:cNvSpPr/>
          <p:nvPr/>
        </p:nvSpPr>
        <p:spPr>
          <a:xfrm>
            <a:off x="126046" y="1059481"/>
            <a:ext cx="11939908" cy="1569660"/>
          </a:xfrm>
          <a:prstGeom prst="rect">
            <a:avLst/>
          </a:prstGeom>
        </p:spPr>
        <p:txBody>
          <a:bodyPr wrap="square">
            <a:spAutoFit/>
          </a:bodyPr>
          <a:lstStyle/>
          <a:p>
            <a:r>
              <a:rPr lang="en-US" sz="2400" dirty="0">
                <a:solidFill>
                  <a:srgbClr val="222222"/>
                </a:solidFill>
              </a:rPr>
              <a:t>The </a:t>
            </a:r>
            <a:r>
              <a:rPr lang="en-US" sz="2400" b="1" dirty="0">
                <a:solidFill>
                  <a:srgbClr val="222222"/>
                </a:solidFill>
              </a:rPr>
              <a:t>vanishing gradient</a:t>
            </a:r>
            <a:r>
              <a:rPr lang="en-US" sz="2400" dirty="0">
                <a:solidFill>
                  <a:srgbClr val="222222"/>
                </a:solidFill>
              </a:rPr>
              <a:t> makes the </a:t>
            </a:r>
            <a:r>
              <a:rPr lang="en-US" sz="2400" b="1" dirty="0">
                <a:solidFill>
                  <a:srgbClr val="222222"/>
                </a:solidFill>
              </a:rPr>
              <a:t>gradient</a:t>
            </a:r>
            <a:r>
              <a:rPr lang="en-US" sz="2400" dirty="0">
                <a:solidFill>
                  <a:srgbClr val="222222"/>
                </a:solidFill>
              </a:rPr>
              <a:t> very close to zero, so it's difficult to know where to move in the state space; the exploding </a:t>
            </a:r>
            <a:r>
              <a:rPr lang="en-US" sz="2400" b="1" dirty="0">
                <a:solidFill>
                  <a:srgbClr val="222222"/>
                </a:solidFill>
              </a:rPr>
              <a:t>gradient</a:t>
            </a:r>
            <a:r>
              <a:rPr lang="en-US" sz="2400" dirty="0">
                <a:solidFill>
                  <a:srgbClr val="222222"/>
                </a:solidFill>
              </a:rPr>
              <a:t> makes the </a:t>
            </a:r>
            <a:r>
              <a:rPr lang="en-US" sz="2400" b="1" dirty="0">
                <a:solidFill>
                  <a:srgbClr val="222222"/>
                </a:solidFill>
              </a:rPr>
              <a:t>gradient</a:t>
            </a:r>
            <a:r>
              <a:rPr lang="en-US" sz="2400" dirty="0">
                <a:solidFill>
                  <a:srgbClr val="222222"/>
                </a:solidFill>
              </a:rPr>
              <a:t> a very large value, so it makes learning unstable. This </a:t>
            </a:r>
            <a:r>
              <a:rPr lang="en-US" sz="2400" b="1" dirty="0">
                <a:solidFill>
                  <a:srgbClr val="222222"/>
                </a:solidFill>
              </a:rPr>
              <a:t>problem</a:t>
            </a:r>
            <a:r>
              <a:rPr lang="en-US" sz="2400" dirty="0">
                <a:solidFill>
                  <a:srgbClr val="222222"/>
                </a:solidFill>
              </a:rPr>
              <a:t> is more pronounced in recurrent networks since they use the same matrix at each time step.</a:t>
            </a:r>
            <a:endParaRPr lang="en-US" sz="2400" dirty="0"/>
          </a:p>
        </p:txBody>
      </p:sp>
    </p:spTree>
    <p:extLst>
      <p:ext uri="{BB962C8B-B14F-4D97-AF65-F5344CB8AC3E}">
        <p14:creationId xmlns:p14="http://schemas.microsoft.com/office/powerpoint/2010/main" val="281766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8" name="Rectangle 7">
            <a:extLst>
              <a:ext uri="{FF2B5EF4-FFF2-40B4-BE49-F238E27FC236}">
                <a16:creationId xmlns:a16="http://schemas.microsoft.com/office/drawing/2014/main" id="{61745012-0250-4AC2-8F43-7BDFD595AD82}"/>
              </a:ext>
            </a:extLst>
          </p:cNvPr>
          <p:cNvSpPr/>
          <p:nvPr/>
        </p:nvSpPr>
        <p:spPr>
          <a:xfrm>
            <a:off x="7153835" y="247425"/>
            <a:ext cx="4911938" cy="552476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6" name="Picture 5">
            <a:extLst>
              <a:ext uri="{FF2B5EF4-FFF2-40B4-BE49-F238E27FC236}">
                <a16:creationId xmlns:a16="http://schemas.microsoft.com/office/drawing/2014/main" id="{D9D2B6CA-4F76-462A-A204-3374694F0C3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82825" y="639089"/>
            <a:ext cx="5554172" cy="5243577"/>
          </a:xfrm>
          <a:prstGeom prst="rect">
            <a:avLst/>
          </a:prstGeom>
        </p:spPr>
      </p:pic>
      <p:pic>
        <p:nvPicPr>
          <p:cNvPr id="10" name="Picture 9">
            <a:extLst>
              <a:ext uri="{FF2B5EF4-FFF2-40B4-BE49-F238E27FC236}">
                <a16:creationId xmlns:a16="http://schemas.microsoft.com/office/drawing/2014/main" id="{0E2E7563-3120-06B0-2D7A-53430CCFBAD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55003" y="743325"/>
            <a:ext cx="5808887" cy="5371349"/>
          </a:xfrm>
          <a:prstGeom prst="rect">
            <a:avLst/>
          </a:prstGeom>
        </p:spPr>
      </p:pic>
    </p:spTree>
    <p:extLst>
      <p:ext uri="{BB962C8B-B14F-4D97-AF65-F5344CB8AC3E}">
        <p14:creationId xmlns:p14="http://schemas.microsoft.com/office/powerpoint/2010/main" val="1088881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8" name="Rectangle 7">
            <a:extLst>
              <a:ext uri="{FF2B5EF4-FFF2-40B4-BE49-F238E27FC236}">
                <a16:creationId xmlns:a16="http://schemas.microsoft.com/office/drawing/2014/main" id="{61745012-0250-4AC2-8F43-7BDFD595AD82}"/>
              </a:ext>
            </a:extLst>
          </p:cNvPr>
          <p:cNvSpPr/>
          <p:nvPr/>
        </p:nvSpPr>
        <p:spPr>
          <a:xfrm>
            <a:off x="7153835" y="247425"/>
            <a:ext cx="4911938" cy="552476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0" name="Picture 9">
            <a:extLst>
              <a:ext uri="{FF2B5EF4-FFF2-40B4-BE49-F238E27FC236}">
                <a16:creationId xmlns:a16="http://schemas.microsoft.com/office/drawing/2014/main" id="{BE96AA5A-8678-47E6-A248-E707F96AA1FD}"/>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val="0"/>
              </a:ext>
            </a:extLst>
          </a:blip>
          <a:stretch>
            <a:fillRect/>
          </a:stretch>
        </p:blipFill>
        <p:spPr>
          <a:xfrm>
            <a:off x="250291" y="2751929"/>
            <a:ext cx="5220429" cy="3248478"/>
          </a:xfrm>
          <a:prstGeom prst="rect">
            <a:avLst/>
          </a:prstGeom>
        </p:spPr>
      </p:pic>
      <p:pic>
        <p:nvPicPr>
          <p:cNvPr id="13" name="Picture 12">
            <a:extLst>
              <a:ext uri="{FF2B5EF4-FFF2-40B4-BE49-F238E27FC236}">
                <a16:creationId xmlns:a16="http://schemas.microsoft.com/office/drawing/2014/main" id="{E6FEB91F-B9FE-4B7C-973B-45FB27A7C14D}"/>
              </a:ext>
            </a:extLst>
          </p:cNvPr>
          <p:cNvPicPr>
            <a:picLocks noChangeAspect="1"/>
          </p:cNvPicPr>
          <p:nvPr/>
        </p:nvPicPr>
        <p:blipFill>
          <a:blip r:embed="rId11">
            <a:extLst>
              <a:ext uri="{BEBA8EAE-BF5A-486C-A8C5-ECC9F3942E4B}">
                <a14:imgProps xmlns:a14="http://schemas.microsoft.com/office/drawing/2010/main">
                  <a14:imgLayer r:embed="rId12">
                    <a14:imgEffect>
                      <a14:sharpenSoften amount="50000"/>
                    </a14:imgEffect>
                  </a14:imgLayer>
                </a14:imgProps>
              </a:ext>
              <a:ext uri="{28A0092B-C50C-407E-A947-70E740481C1C}">
                <a14:useLocalDpi xmlns:a14="http://schemas.microsoft.com/office/drawing/2010/main" val="0"/>
              </a:ext>
            </a:extLst>
          </a:blip>
          <a:stretch>
            <a:fillRect/>
          </a:stretch>
        </p:blipFill>
        <p:spPr>
          <a:xfrm>
            <a:off x="6498257" y="2799050"/>
            <a:ext cx="4911938" cy="3154235"/>
          </a:xfrm>
          <a:prstGeom prst="rect">
            <a:avLst/>
          </a:prstGeom>
        </p:spPr>
      </p:pic>
      <p:sp>
        <p:nvSpPr>
          <p:cNvPr id="14" name="Rectangle 13">
            <a:extLst>
              <a:ext uri="{FF2B5EF4-FFF2-40B4-BE49-F238E27FC236}">
                <a16:creationId xmlns:a16="http://schemas.microsoft.com/office/drawing/2014/main" id="{0E97A1AA-677B-4301-BCC3-77A042BADECE}"/>
              </a:ext>
            </a:extLst>
          </p:cNvPr>
          <p:cNvSpPr/>
          <p:nvPr/>
        </p:nvSpPr>
        <p:spPr>
          <a:xfrm>
            <a:off x="250291" y="172896"/>
            <a:ext cx="5124948" cy="2123658"/>
          </a:xfrm>
          <a:prstGeom prst="rect">
            <a:avLst/>
          </a:prstGeom>
        </p:spPr>
        <p:txBody>
          <a:bodyPr wrap="square">
            <a:spAutoFit/>
          </a:bodyPr>
          <a:lstStyle/>
          <a:p>
            <a:r>
              <a:rPr lang="en-US" sz="2800" b="1" dirty="0">
                <a:solidFill>
                  <a:srgbClr val="002060"/>
                </a:solidFill>
              </a:rPr>
              <a:t>Exploding Gradient:</a:t>
            </a:r>
          </a:p>
          <a:p>
            <a:endParaRPr lang="en-US" sz="2400" dirty="0"/>
          </a:p>
          <a:p>
            <a:r>
              <a:rPr lang="en-US" sz="2000" dirty="0"/>
              <a:t>The working of the exploding gradient is similar but the weights here change drastically instead of negligible change. Notice the small change.</a:t>
            </a:r>
          </a:p>
        </p:txBody>
      </p:sp>
      <p:sp>
        <p:nvSpPr>
          <p:cNvPr id="15" name="Rectangle 14">
            <a:extLst>
              <a:ext uri="{FF2B5EF4-FFF2-40B4-BE49-F238E27FC236}">
                <a16:creationId xmlns:a16="http://schemas.microsoft.com/office/drawing/2014/main" id="{6457A864-04FA-4180-8E6C-73666624CB5B}"/>
              </a:ext>
            </a:extLst>
          </p:cNvPr>
          <p:cNvSpPr/>
          <p:nvPr/>
        </p:nvSpPr>
        <p:spPr>
          <a:xfrm>
            <a:off x="6287969" y="217776"/>
            <a:ext cx="5512482" cy="2062103"/>
          </a:xfrm>
          <a:prstGeom prst="rect">
            <a:avLst/>
          </a:prstGeom>
        </p:spPr>
        <p:txBody>
          <a:bodyPr wrap="square">
            <a:spAutoFit/>
          </a:bodyPr>
          <a:lstStyle/>
          <a:p>
            <a:r>
              <a:rPr lang="en-US" sz="2800" b="1" dirty="0">
                <a:solidFill>
                  <a:srgbClr val="002060"/>
                </a:solidFill>
              </a:rPr>
              <a:t>Vanishing Gradient:</a:t>
            </a:r>
          </a:p>
          <a:p>
            <a:endParaRPr lang="en-US" sz="2000" dirty="0"/>
          </a:p>
          <a:p>
            <a:r>
              <a:rPr lang="en-US" sz="2000" dirty="0"/>
              <a:t>When making use of back-propagation the goal is to calculate the error which is actually found out by finding out the difference between the actual output and the model output and raising.</a:t>
            </a:r>
            <a:endParaRPr lang="en-US" dirty="0"/>
          </a:p>
        </p:txBody>
      </p:sp>
    </p:spTree>
    <p:extLst>
      <p:ext uri="{BB962C8B-B14F-4D97-AF65-F5344CB8AC3E}">
        <p14:creationId xmlns:p14="http://schemas.microsoft.com/office/powerpoint/2010/main" val="258745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12" name="object 2">
            <a:extLst>
              <a:ext uri="{FF2B5EF4-FFF2-40B4-BE49-F238E27FC236}">
                <a16:creationId xmlns:a16="http://schemas.microsoft.com/office/drawing/2014/main" id="{140CAFB9-5398-4DAA-9E5F-A8B278E3D0BC}"/>
              </a:ext>
            </a:extLst>
          </p:cNvPr>
          <p:cNvSpPr txBox="1">
            <a:spLocks/>
          </p:cNvSpPr>
          <p:nvPr/>
        </p:nvSpPr>
        <p:spPr>
          <a:xfrm>
            <a:off x="4128296" y="715153"/>
            <a:ext cx="3036887" cy="695325"/>
          </a:xfrm>
          <a:prstGeom prst="rect">
            <a:avLst/>
          </a:prstGeom>
        </p:spPr>
        <p:txBody>
          <a:bodyPr vert="horz" lIns="91440" tIns="1270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spcBef>
                <a:spcPts val="100"/>
              </a:spcBef>
              <a:defRPr/>
            </a:pPr>
            <a:r>
              <a:rPr lang="en-US" sz="5400" b="1" spc="-5" dirty="0">
                <a:solidFill>
                  <a:srgbClr val="7030A0"/>
                </a:solidFill>
                <a:latin typeface="+mn-lt"/>
              </a:rPr>
              <a:t>Basic</a:t>
            </a:r>
            <a:r>
              <a:rPr lang="en-US" sz="5400" b="1" spc="-70" dirty="0">
                <a:solidFill>
                  <a:srgbClr val="7030A0"/>
                </a:solidFill>
                <a:latin typeface="+mn-lt"/>
              </a:rPr>
              <a:t> </a:t>
            </a:r>
            <a:r>
              <a:rPr lang="en-US" sz="5400" b="1" spc="-5" dirty="0">
                <a:solidFill>
                  <a:srgbClr val="7030A0"/>
                </a:solidFill>
                <a:latin typeface="+mn-lt"/>
              </a:rPr>
              <a:t>LSTM</a:t>
            </a:r>
          </a:p>
        </p:txBody>
      </p:sp>
      <p:sp>
        <p:nvSpPr>
          <p:cNvPr id="17" name="TextBox 3">
            <a:extLst>
              <a:ext uri="{FF2B5EF4-FFF2-40B4-BE49-F238E27FC236}">
                <a16:creationId xmlns:a16="http://schemas.microsoft.com/office/drawing/2014/main" id="{9B1025DC-C756-4986-95B6-32E970025CF5}"/>
              </a:ext>
            </a:extLst>
          </p:cNvPr>
          <p:cNvSpPr txBox="1">
            <a:spLocks noChangeArrowheads="1"/>
          </p:cNvSpPr>
          <p:nvPr/>
        </p:nvSpPr>
        <p:spPr bwMode="auto">
          <a:xfrm>
            <a:off x="925551" y="1988381"/>
            <a:ext cx="10114156"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eaLnBrk="1" hangingPunct="1">
              <a:buFont typeface="Arial" panose="020B0604020202020204" pitchFamily="34" charset="0"/>
              <a:buChar char="•"/>
            </a:pPr>
            <a:r>
              <a:rPr lang="en-US" altLang="en-US" sz="2400" dirty="0">
                <a:latin typeface="+mn-lt"/>
                <a:cs typeface="Times New Roman" panose="02020603050405020304" pitchFamily="18" charset="0"/>
              </a:rPr>
              <a:t>Long short-term memory network was first introduced in 1997 by Sepp </a:t>
            </a:r>
            <a:r>
              <a:rPr lang="en-US" altLang="en-US" sz="2400" dirty="0" err="1">
                <a:latin typeface="+mn-lt"/>
                <a:cs typeface="Times New Roman" panose="02020603050405020304" pitchFamily="18" charset="0"/>
              </a:rPr>
              <a:t>Hochreiter</a:t>
            </a:r>
            <a:r>
              <a:rPr lang="en-US" altLang="en-US" sz="2400" dirty="0">
                <a:latin typeface="+mn-lt"/>
                <a:cs typeface="Times New Roman" panose="02020603050405020304" pitchFamily="18" charset="0"/>
              </a:rPr>
              <a:t> and his supervisor for a Ph.D. thesis.</a:t>
            </a:r>
          </a:p>
          <a:p>
            <a:pPr eaLnBrk="1" hangingPunct="1"/>
            <a:endParaRPr lang="en-US" altLang="en-US" sz="2400" dirty="0">
              <a:latin typeface="+mn-lt"/>
              <a:cs typeface="Times New Roman" panose="02020603050405020304" pitchFamily="18" charset="0"/>
            </a:endParaRPr>
          </a:p>
          <a:p>
            <a:pPr marL="342900" indent="-342900" eaLnBrk="1" hangingPunct="1">
              <a:buFont typeface="Arial" panose="020B0604020202020204" pitchFamily="34" charset="0"/>
              <a:buChar char="•"/>
            </a:pPr>
            <a:r>
              <a:rPr lang="en-US" altLang="en-US" sz="2400" dirty="0">
                <a:latin typeface="+mn-lt"/>
                <a:cs typeface="Times New Roman" panose="02020603050405020304" pitchFamily="18" charset="0"/>
              </a:rPr>
              <a:t>LSTM is a special kind of RNN, capable of learning long term dependencies. </a:t>
            </a:r>
          </a:p>
          <a:p>
            <a:pPr eaLnBrk="1" hangingPunct="1"/>
            <a:endParaRPr lang="en-US" altLang="en-US" sz="2400" dirty="0">
              <a:latin typeface="+mn-lt"/>
              <a:cs typeface="Times New Roman" panose="02020603050405020304" pitchFamily="18" charset="0"/>
            </a:endParaRPr>
          </a:p>
          <a:p>
            <a:pPr marL="342900" indent="-342900" eaLnBrk="1" hangingPunct="1">
              <a:buFont typeface="Arial" panose="020B0604020202020204" pitchFamily="34" charset="0"/>
              <a:buChar char="•"/>
            </a:pPr>
            <a:r>
              <a:rPr lang="en-US" altLang="en-US" sz="2400" dirty="0">
                <a:latin typeface="+mn-lt"/>
                <a:cs typeface="Times New Roman" panose="02020603050405020304" pitchFamily="18" charset="0"/>
              </a:rPr>
              <a:t>Remembering information for long period of time is it’s default behavior.</a:t>
            </a:r>
          </a:p>
          <a:p>
            <a:pPr eaLnBrk="1" hangingPunct="1"/>
            <a:endParaRPr lang="en-US" altLang="en-US" sz="2400" dirty="0">
              <a:latin typeface="+mn-lt"/>
              <a:cs typeface="Times New Roman" panose="02020603050405020304" pitchFamily="18" charset="0"/>
            </a:endParaRPr>
          </a:p>
          <a:p>
            <a:pPr marL="342900" indent="-342900" eaLnBrk="1" hangingPunct="1">
              <a:buFont typeface="Arial" panose="020B0604020202020204" pitchFamily="34" charset="0"/>
              <a:buChar char="•"/>
            </a:pPr>
            <a:r>
              <a:rPr lang="en-US" altLang="en-US" sz="2400" dirty="0">
                <a:latin typeface="+mn-lt"/>
                <a:cs typeface="Times New Roman" panose="02020603050405020304" pitchFamily="18" charset="0"/>
              </a:rPr>
              <a:t>Long short-term memory (LSTM) network is the most popular solution to the vanishing gradient problem.</a:t>
            </a:r>
          </a:p>
          <a:p>
            <a:pPr marL="285750" indent="-285750" eaLnBrk="1" hangingPunct="1">
              <a:buFont typeface="Arial" panose="020B0604020202020204" pitchFamily="34" charset="0"/>
              <a:buChar char="•"/>
            </a:pPr>
            <a:endParaRPr lang="en-US" altLang="en-US" sz="1600" dirty="0">
              <a:latin typeface="+mn-lt"/>
            </a:endParaRPr>
          </a:p>
        </p:txBody>
      </p:sp>
    </p:spTree>
    <p:extLst>
      <p:ext uri="{BB962C8B-B14F-4D97-AF65-F5344CB8AC3E}">
        <p14:creationId xmlns:p14="http://schemas.microsoft.com/office/powerpoint/2010/main" val="2181990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pic>
        <p:nvPicPr>
          <p:cNvPr id="5" name="Picture 4">
            <a:extLst>
              <a:ext uri="{FF2B5EF4-FFF2-40B4-BE49-F238E27FC236}">
                <a16:creationId xmlns:a16="http://schemas.microsoft.com/office/drawing/2014/main" id="{1A6AAF2A-CA8B-4842-A5E5-473442358B2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68292" y="477971"/>
            <a:ext cx="5994155" cy="2460102"/>
          </a:xfrm>
          <a:prstGeom prst="rect">
            <a:avLst/>
          </a:prstGeom>
        </p:spPr>
      </p:pic>
      <p:pic>
        <p:nvPicPr>
          <p:cNvPr id="9" name="Picture 8">
            <a:extLst>
              <a:ext uri="{FF2B5EF4-FFF2-40B4-BE49-F238E27FC236}">
                <a16:creationId xmlns:a16="http://schemas.microsoft.com/office/drawing/2014/main" id="{9AE9570C-854A-4325-878F-CBF77C420CF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46429" y="618188"/>
            <a:ext cx="5921863" cy="2414871"/>
          </a:xfrm>
          <a:prstGeom prst="rect">
            <a:avLst/>
          </a:prstGeom>
        </p:spPr>
      </p:pic>
      <p:pic>
        <p:nvPicPr>
          <p:cNvPr id="7" name="Picture 6">
            <a:extLst>
              <a:ext uri="{FF2B5EF4-FFF2-40B4-BE49-F238E27FC236}">
                <a16:creationId xmlns:a16="http://schemas.microsoft.com/office/drawing/2014/main" id="{3142A902-8599-4232-B9C0-BE353B11AB1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551766" y="3128046"/>
            <a:ext cx="3632387" cy="3632387"/>
          </a:xfrm>
          <a:prstGeom prst="rect">
            <a:avLst/>
          </a:prstGeom>
        </p:spPr>
      </p:pic>
    </p:spTree>
    <p:extLst>
      <p:ext uri="{BB962C8B-B14F-4D97-AF65-F5344CB8AC3E}">
        <p14:creationId xmlns:p14="http://schemas.microsoft.com/office/powerpoint/2010/main" val="326971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pic>
        <p:nvPicPr>
          <p:cNvPr id="5" name="Picture 4">
            <a:extLst>
              <a:ext uri="{FF2B5EF4-FFF2-40B4-BE49-F238E27FC236}">
                <a16:creationId xmlns:a16="http://schemas.microsoft.com/office/drawing/2014/main" id="{49A22FC4-D427-4F49-8B24-F0A16789376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3385" y="1131713"/>
            <a:ext cx="10805532" cy="2843561"/>
          </a:xfrm>
          <a:prstGeom prst="rect">
            <a:avLst/>
          </a:prstGeom>
        </p:spPr>
      </p:pic>
      <p:sp>
        <p:nvSpPr>
          <p:cNvPr id="13" name="object 2">
            <a:extLst>
              <a:ext uri="{FF2B5EF4-FFF2-40B4-BE49-F238E27FC236}">
                <a16:creationId xmlns:a16="http://schemas.microsoft.com/office/drawing/2014/main" id="{65F04BAB-0D31-4E86-9BD1-BB9410359A9F}"/>
              </a:ext>
            </a:extLst>
          </p:cNvPr>
          <p:cNvSpPr txBox="1">
            <a:spLocks/>
          </p:cNvSpPr>
          <p:nvPr/>
        </p:nvSpPr>
        <p:spPr>
          <a:xfrm>
            <a:off x="1823456" y="436028"/>
            <a:ext cx="8758447" cy="695325"/>
          </a:xfrm>
          <a:prstGeom prst="rect">
            <a:avLst/>
          </a:prstGeom>
        </p:spPr>
        <p:txBody>
          <a:bodyPr vert="horz" lIns="91440" tIns="1270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spcBef>
                <a:spcPts val="100"/>
              </a:spcBef>
              <a:defRPr/>
            </a:pPr>
            <a:r>
              <a:rPr lang="en-US" sz="4800" b="1" spc="-5" dirty="0">
                <a:solidFill>
                  <a:srgbClr val="7030A0"/>
                </a:solidFill>
                <a:latin typeface="+mn-lt"/>
              </a:rPr>
              <a:t>First Understand the RNN Works</a:t>
            </a:r>
          </a:p>
        </p:txBody>
      </p:sp>
      <p:sp>
        <p:nvSpPr>
          <p:cNvPr id="14" name="Rectangle 13">
            <a:extLst>
              <a:ext uri="{FF2B5EF4-FFF2-40B4-BE49-F238E27FC236}">
                <a16:creationId xmlns:a16="http://schemas.microsoft.com/office/drawing/2014/main" id="{AE3D96DD-3CE3-4FD2-BB66-3D360A42CF70}"/>
              </a:ext>
            </a:extLst>
          </p:cNvPr>
          <p:cNvSpPr/>
          <p:nvPr/>
        </p:nvSpPr>
        <p:spPr>
          <a:xfrm>
            <a:off x="464372" y="4482575"/>
            <a:ext cx="11476616" cy="461665"/>
          </a:xfrm>
          <a:prstGeom prst="rect">
            <a:avLst/>
          </a:prstGeom>
        </p:spPr>
        <p:txBody>
          <a:bodyPr wrap="square">
            <a:spAutoFit/>
          </a:bodyPr>
          <a:lstStyle/>
          <a:p>
            <a:r>
              <a:rPr lang="en-US" sz="2400" b="1" i="1" dirty="0"/>
              <a:t>This 	is	 a 	cat, 	and	 _____  is 		a 	good 	pet 	animal</a:t>
            </a:r>
          </a:p>
        </p:txBody>
      </p:sp>
    </p:spTree>
    <p:extLst>
      <p:ext uri="{BB962C8B-B14F-4D97-AF65-F5344CB8AC3E}">
        <p14:creationId xmlns:p14="http://schemas.microsoft.com/office/powerpoint/2010/main" val="969314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pic>
        <p:nvPicPr>
          <p:cNvPr id="9" name="Picture 8">
            <a:extLst>
              <a:ext uri="{FF2B5EF4-FFF2-40B4-BE49-F238E27FC236}">
                <a16:creationId xmlns:a16="http://schemas.microsoft.com/office/drawing/2014/main" id="{A94F122A-A0F3-4BF6-B7C2-BE4A1077D8F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4634" y="1259954"/>
            <a:ext cx="11262732" cy="4719550"/>
          </a:xfrm>
          <a:prstGeom prst="rect">
            <a:avLst/>
          </a:prstGeom>
        </p:spPr>
      </p:pic>
      <p:sp>
        <p:nvSpPr>
          <p:cNvPr id="8" name="object 2">
            <a:extLst>
              <a:ext uri="{FF2B5EF4-FFF2-40B4-BE49-F238E27FC236}">
                <a16:creationId xmlns:a16="http://schemas.microsoft.com/office/drawing/2014/main" id="{8C48422B-89A5-4106-9FC9-7BCD5393DF36}"/>
              </a:ext>
            </a:extLst>
          </p:cNvPr>
          <p:cNvSpPr txBox="1">
            <a:spLocks/>
          </p:cNvSpPr>
          <p:nvPr/>
        </p:nvSpPr>
        <p:spPr>
          <a:xfrm>
            <a:off x="1830410" y="383760"/>
            <a:ext cx="8758447" cy="695325"/>
          </a:xfrm>
          <a:prstGeom prst="rect">
            <a:avLst/>
          </a:prstGeom>
        </p:spPr>
        <p:txBody>
          <a:bodyPr vert="horz" lIns="91440" tIns="1270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spcBef>
                <a:spcPts val="100"/>
              </a:spcBef>
              <a:defRPr/>
            </a:pPr>
            <a:r>
              <a:rPr lang="en-US" sz="4800" b="1" spc="-5" dirty="0">
                <a:solidFill>
                  <a:srgbClr val="7030A0"/>
                </a:solidFill>
              </a:rPr>
              <a:t>Looking More Clearly </a:t>
            </a:r>
          </a:p>
        </p:txBody>
      </p:sp>
    </p:spTree>
    <p:extLst>
      <p:ext uri="{BB962C8B-B14F-4D97-AF65-F5344CB8AC3E}">
        <p14:creationId xmlns:p14="http://schemas.microsoft.com/office/powerpoint/2010/main" val="1152462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pic>
        <p:nvPicPr>
          <p:cNvPr id="7" name="Picture 6">
            <a:extLst>
              <a:ext uri="{FF2B5EF4-FFF2-40B4-BE49-F238E27FC236}">
                <a16:creationId xmlns:a16="http://schemas.microsoft.com/office/drawing/2014/main" id="{F1373BDD-B28A-4587-AA09-89FEBE1A935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1838994"/>
            <a:ext cx="12192000" cy="3383051"/>
          </a:xfrm>
          <a:prstGeom prst="rect">
            <a:avLst/>
          </a:prstGeom>
        </p:spPr>
      </p:pic>
      <p:sp>
        <p:nvSpPr>
          <p:cNvPr id="8" name="object 2">
            <a:extLst>
              <a:ext uri="{FF2B5EF4-FFF2-40B4-BE49-F238E27FC236}">
                <a16:creationId xmlns:a16="http://schemas.microsoft.com/office/drawing/2014/main" id="{11C402F7-89FE-44B6-A236-6085670348AD}"/>
              </a:ext>
            </a:extLst>
          </p:cNvPr>
          <p:cNvSpPr txBox="1">
            <a:spLocks/>
          </p:cNvSpPr>
          <p:nvPr/>
        </p:nvSpPr>
        <p:spPr>
          <a:xfrm>
            <a:off x="1830410" y="297906"/>
            <a:ext cx="8758447" cy="695325"/>
          </a:xfrm>
          <a:prstGeom prst="rect">
            <a:avLst/>
          </a:prstGeom>
        </p:spPr>
        <p:txBody>
          <a:bodyPr vert="horz" lIns="91440" tIns="1270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spcBef>
                <a:spcPts val="100"/>
              </a:spcBef>
              <a:defRPr/>
            </a:pPr>
            <a:r>
              <a:rPr lang="en-US" sz="4800" b="1" spc="-5" dirty="0">
                <a:solidFill>
                  <a:srgbClr val="7030A0"/>
                </a:solidFill>
                <a:latin typeface="+mn-lt"/>
              </a:rPr>
              <a:t>Looking More Clearly </a:t>
            </a:r>
          </a:p>
        </p:txBody>
      </p:sp>
    </p:spTree>
    <p:extLst>
      <p:ext uri="{BB962C8B-B14F-4D97-AF65-F5344CB8AC3E}">
        <p14:creationId xmlns:p14="http://schemas.microsoft.com/office/powerpoint/2010/main" val="3983345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8" name="object 2">
            <a:extLst>
              <a:ext uri="{FF2B5EF4-FFF2-40B4-BE49-F238E27FC236}">
                <a16:creationId xmlns:a16="http://schemas.microsoft.com/office/drawing/2014/main" id="{11C402F7-89FE-44B6-A236-6085670348AD}"/>
              </a:ext>
            </a:extLst>
          </p:cNvPr>
          <p:cNvSpPr txBox="1">
            <a:spLocks/>
          </p:cNvSpPr>
          <p:nvPr/>
        </p:nvSpPr>
        <p:spPr>
          <a:xfrm>
            <a:off x="1841561" y="99180"/>
            <a:ext cx="8758447" cy="695325"/>
          </a:xfrm>
          <a:prstGeom prst="rect">
            <a:avLst/>
          </a:prstGeom>
        </p:spPr>
        <p:txBody>
          <a:bodyPr vert="horz" lIns="91440" tIns="1270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latin typeface="+mn-lt"/>
              </a:rPr>
              <a:t>LSTM’s and GRU’s as a solution</a:t>
            </a:r>
          </a:p>
        </p:txBody>
      </p:sp>
      <p:sp>
        <p:nvSpPr>
          <p:cNvPr id="3" name="Rectangle 2">
            <a:extLst>
              <a:ext uri="{FF2B5EF4-FFF2-40B4-BE49-F238E27FC236}">
                <a16:creationId xmlns:a16="http://schemas.microsoft.com/office/drawing/2014/main" id="{2649360A-6081-4C21-B83F-E954F1ECE332}"/>
              </a:ext>
            </a:extLst>
          </p:cNvPr>
          <p:cNvSpPr/>
          <p:nvPr/>
        </p:nvSpPr>
        <p:spPr>
          <a:xfrm>
            <a:off x="126045" y="715180"/>
            <a:ext cx="11939909" cy="954107"/>
          </a:xfrm>
          <a:prstGeom prst="rect">
            <a:avLst/>
          </a:prstGeom>
        </p:spPr>
        <p:txBody>
          <a:bodyPr wrap="square">
            <a:spAutoFit/>
          </a:bodyPr>
          <a:lstStyle/>
          <a:p>
            <a:r>
              <a:rPr lang="en-US" sz="2800" dirty="0"/>
              <a:t>LSTM ’s and GRU’s were created as the solution to short-term memory. They have internal mechanisms called gates that can regulate the flow of information.</a:t>
            </a:r>
            <a:endParaRPr lang="en-US" sz="2800" b="0" i="0" dirty="0">
              <a:effectLst/>
            </a:endParaRPr>
          </a:p>
        </p:txBody>
      </p:sp>
      <p:pic>
        <p:nvPicPr>
          <p:cNvPr id="6" name="Picture 5">
            <a:extLst>
              <a:ext uri="{FF2B5EF4-FFF2-40B4-BE49-F238E27FC236}">
                <a16:creationId xmlns:a16="http://schemas.microsoft.com/office/drawing/2014/main" id="{6B6490F7-CEAD-4E71-BDFD-62A466986F4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79335" y="1636693"/>
            <a:ext cx="8186619" cy="5205739"/>
          </a:xfrm>
          <a:prstGeom prst="rect">
            <a:avLst/>
          </a:prstGeom>
        </p:spPr>
      </p:pic>
      <p:pic>
        <p:nvPicPr>
          <p:cNvPr id="12" name="Picture 11">
            <a:extLst>
              <a:ext uri="{FF2B5EF4-FFF2-40B4-BE49-F238E27FC236}">
                <a16:creationId xmlns:a16="http://schemas.microsoft.com/office/drawing/2014/main" id="{1D134A08-155A-4AE0-8787-84602D134FAE}"/>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5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310836" y="2264565"/>
            <a:ext cx="3311613" cy="3311613"/>
          </a:xfrm>
          <a:prstGeom prst="rect">
            <a:avLst/>
          </a:prstGeom>
        </p:spPr>
      </p:pic>
    </p:spTree>
    <p:extLst>
      <p:ext uri="{BB962C8B-B14F-4D97-AF65-F5344CB8AC3E}">
        <p14:creationId xmlns:p14="http://schemas.microsoft.com/office/powerpoint/2010/main" val="3307017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8" name="object 2">
            <a:extLst>
              <a:ext uri="{FF2B5EF4-FFF2-40B4-BE49-F238E27FC236}">
                <a16:creationId xmlns:a16="http://schemas.microsoft.com/office/drawing/2014/main" id="{11C402F7-89FE-44B6-A236-6085670348AD}"/>
              </a:ext>
            </a:extLst>
          </p:cNvPr>
          <p:cNvSpPr txBox="1">
            <a:spLocks/>
          </p:cNvSpPr>
          <p:nvPr/>
        </p:nvSpPr>
        <p:spPr>
          <a:xfrm>
            <a:off x="1852713" y="228707"/>
            <a:ext cx="8758447" cy="695325"/>
          </a:xfrm>
          <a:prstGeom prst="rect">
            <a:avLst/>
          </a:prstGeom>
        </p:spPr>
        <p:txBody>
          <a:bodyPr vert="horz" lIns="91440" tIns="1270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latin typeface="+mn-lt"/>
              </a:rPr>
              <a:t>LSTM’s as a solution</a:t>
            </a:r>
          </a:p>
        </p:txBody>
      </p:sp>
      <p:pic>
        <p:nvPicPr>
          <p:cNvPr id="7" name="Picture 6">
            <a:extLst>
              <a:ext uri="{FF2B5EF4-FFF2-40B4-BE49-F238E27FC236}">
                <a16:creationId xmlns:a16="http://schemas.microsoft.com/office/drawing/2014/main" id="{A86C1A6A-DFFE-4236-B036-D4A17631A980}"/>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val="0"/>
              </a:ext>
            </a:extLst>
          </a:blip>
          <a:stretch>
            <a:fillRect/>
          </a:stretch>
        </p:blipFill>
        <p:spPr>
          <a:xfrm>
            <a:off x="5367960" y="1669669"/>
            <a:ext cx="6740712" cy="3192968"/>
          </a:xfrm>
          <a:prstGeom prst="rect">
            <a:avLst/>
          </a:prstGeom>
        </p:spPr>
      </p:pic>
      <p:pic>
        <p:nvPicPr>
          <p:cNvPr id="5" name="Picture 4">
            <a:extLst>
              <a:ext uri="{FF2B5EF4-FFF2-40B4-BE49-F238E27FC236}">
                <a16:creationId xmlns:a16="http://schemas.microsoft.com/office/drawing/2014/main" id="{476A7261-B1CE-4A01-A01A-97BE0CC9472C}"/>
              </a:ext>
            </a:extLst>
          </p:cNvPr>
          <p:cNvPicPr>
            <a:picLocks noChangeAspect="1"/>
          </p:cNvPicPr>
          <p:nvPr/>
        </p:nvPicPr>
        <p:blipFill>
          <a:blip r:embed="rId11">
            <a:extLst>
              <a:ext uri="{BEBA8EAE-BF5A-486C-A8C5-ECC9F3942E4B}">
                <a14:imgProps xmlns:a14="http://schemas.microsoft.com/office/drawing/2010/main">
                  <a14:imgLayer r:embed="rId12">
                    <a14:imgEffect>
                      <a14:saturation sat="400000"/>
                    </a14:imgEffect>
                  </a14:imgLayer>
                </a14:imgProps>
              </a:ext>
              <a:ext uri="{28A0092B-C50C-407E-A947-70E740481C1C}">
                <a14:useLocalDpi xmlns:a14="http://schemas.microsoft.com/office/drawing/2010/main" val="0"/>
              </a:ext>
            </a:extLst>
          </a:blip>
          <a:stretch>
            <a:fillRect/>
          </a:stretch>
        </p:blipFill>
        <p:spPr>
          <a:xfrm>
            <a:off x="83328" y="1087238"/>
            <a:ext cx="5768832" cy="4683524"/>
          </a:xfrm>
          <a:prstGeom prst="rect">
            <a:avLst/>
          </a:prstGeom>
        </p:spPr>
      </p:pic>
    </p:spTree>
    <p:extLst>
      <p:ext uri="{BB962C8B-B14F-4D97-AF65-F5344CB8AC3E}">
        <p14:creationId xmlns:p14="http://schemas.microsoft.com/office/powerpoint/2010/main" val="2911372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8" name="object 2">
            <a:extLst>
              <a:ext uri="{FF2B5EF4-FFF2-40B4-BE49-F238E27FC236}">
                <a16:creationId xmlns:a16="http://schemas.microsoft.com/office/drawing/2014/main" id="{11C402F7-89FE-44B6-A236-6085670348AD}"/>
              </a:ext>
            </a:extLst>
          </p:cNvPr>
          <p:cNvSpPr txBox="1">
            <a:spLocks/>
          </p:cNvSpPr>
          <p:nvPr/>
        </p:nvSpPr>
        <p:spPr>
          <a:xfrm>
            <a:off x="1841561" y="99180"/>
            <a:ext cx="8758447" cy="695325"/>
          </a:xfrm>
          <a:prstGeom prst="rect">
            <a:avLst/>
          </a:prstGeom>
        </p:spPr>
        <p:txBody>
          <a:bodyPr vert="horz" lIns="91440" tIns="1270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latin typeface="+mn-lt"/>
              </a:rPr>
              <a:t>LSTM’s as a solution (steps)</a:t>
            </a:r>
          </a:p>
        </p:txBody>
      </p:sp>
      <p:sp>
        <p:nvSpPr>
          <p:cNvPr id="3" name="Rectangle 2">
            <a:extLst>
              <a:ext uri="{FF2B5EF4-FFF2-40B4-BE49-F238E27FC236}">
                <a16:creationId xmlns:a16="http://schemas.microsoft.com/office/drawing/2014/main" id="{6EEA163E-C725-4F3B-B569-CCC136A6AC51}"/>
              </a:ext>
            </a:extLst>
          </p:cNvPr>
          <p:cNvSpPr/>
          <p:nvPr/>
        </p:nvSpPr>
        <p:spPr>
          <a:xfrm>
            <a:off x="164228" y="991353"/>
            <a:ext cx="12113111" cy="4708981"/>
          </a:xfrm>
          <a:prstGeom prst="rect">
            <a:avLst/>
          </a:prstGeom>
        </p:spPr>
        <p:txBody>
          <a:bodyPr wrap="square">
            <a:spAutoFit/>
          </a:bodyPr>
          <a:lstStyle/>
          <a:p>
            <a:pPr marL="342900" indent="-342900">
              <a:buAutoNum type="arabicPeriod"/>
            </a:pPr>
            <a:r>
              <a:rPr lang="en-US" sz="2000" dirty="0"/>
              <a:t>First, the previous hidden state and the current input get concatenated. We’ll call it combine.</a:t>
            </a:r>
          </a:p>
          <a:p>
            <a:pPr marL="342900" indent="-342900">
              <a:buAutoNum type="arabicPeriod"/>
            </a:pPr>
            <a:endParaRPr lang="en-US" sz="2000" dirty="0"/>
          </a:p>
          <a:p>
            <a:r>
              <a:rPr lang="en-US" sz="2000" dirty="0"/>
              <a:t>2. Combine get’s fed into the forget layer. This layer removes non-relevant data.</a:t>
            </a:r>
          </a:p>
          <a:p>
            <a:endParaRPr lang="en-US" sz="2000" dirty="0"/>
          </a:p>
          <a:p>
            <a:r>
              <a:rPr lang="en-US" sz="2000" dirty="0"/>
              <a:t>4. A candidate layer is created using combine. The candidate holds possible values to add to the cell state.</a:t>
            </a:r>
          </a:p>
          <a:p>
            <a:endParaRPr lang="en-US" sz="2000" dirty="0"/>
          </a:p>
          <a:p>
            <a:r>
              <a:rPr lang="en-US" sz="2000" dirty="0"/>
              <a:t>3. Combine also get’s fed </a:t>
            </a:r>
            <a:r>
              <a:rPr lang="en-US" sz="2200" dirty="0"/>
              <a:t>into</a:t>
            </a:r>
            <a:r>
              <a:rPr lang="en-US" sz="2000" dirty="0"/>
              <a:t> the input layer. This layer decides what data from the candidate should be added to the new cell state.</a:t>
            </a:r>
          </a:p>
          <a:p>
            <a:endParaRPr lang="en-US" sz="2000" dirty="0"/>
          </a:p>
          <a:p>
            <a:r>
              <a:rPr lang="en-US" sz="2000" dirty="0"/>
              <a:t>5. After computing the forget layer, candidate layer, and the input layer, the cell state is calculated using those vectors and the previous cell state.</a:t>
            </a:r>
          </a:p>
          <a:p>
            <a:endParaRPr lang="en-US" sz="2000" dirty="0"/>
          </a:p>
          <a:p>
            <a:r>
              <a:rPr lang="en-US" sz="2000" dirty="0"/>
              <a:t>6. The output is then computed.</a:t>
            </a:r>
          </a:p>
          <a:p>
            <a:endParaRPr lang="en-US" sz="2000" dirty="0"/>
          </a:p>
          <a:p>
            <a:r>
              <a:rPr lang="en-US" sz="2000" dirty="0"/>
              <a:t>7. Pointwise multiplying the output and the new cell state gives us the new hidden state.</a:t>
            </a:r>
          </a:p>
        </p:txBody>
      </p:sp>
    </p:spTree>
    <p:extLst>
      <p:ext uri="{BB962C8B-B14F-4D97-AF65-F5344CB8AC3E}">
        <p14:creationId xmlns:p14="http://schemas.microsoft.com/office/powerpoint/2010/main" val="1453109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8" name="object 2">
            <a:extLst>
              <a:ext uri="{FF2B5EF4-FFF2-40B4-BE49-F238E27FC236}">
                <a16:creationId xmlns:a16="http://schemas.microsoft.com/office/drawing/2014/main" id="{11C402F7-89FE-44B6-A236-6085670348AD}"/>
              </a:ext>
            </a:extLst>
          </p:cNvPr>
          <p:cNvSpPr txBox="1">
            <a:spLocks/>
          </p:cNvSpPr>
          <p:nvPr/>
        </p:nvSpPr>
        <p:spPr>
          <a:xfrm>
            <a:off x="1841561" y="99180"/>
            <a:ext cx="8758447" cy="695325"/>
          </a:xfrm>
          <a:prstGeom prst="rect">
            <a:avLst/>
          </a:prstGeom>
        </p:spPr>
        <p:txBody>
          <a:bodyPr vert="horz" lIns="91440" tIns="1270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latin typeface="+mn-lt"/>
              </a:rPr>
              <a:t>GRU’s () Gated Recurrent Unit, as a solution</a:t>
            </a:r>
          </a:p>
        </p:txBody>
      </p:sp>
      <p:sp>
        <p:nvSpPr>
          <p:cNvPr id="3" name="Rectangle 2">
            <a:extLst>
              <a:ext uri="{FF2B5EF4-FFF2-40B4-BE49-F238E27FC236}">
                <a16:creationId xmlns:a16="http://schemas.microsoft.com/office/drawing/2014/main" id="{702B6784-2282-4161-A616-F04C917B83F1}"/>
              </a:ext>
            </a:extLst>
          </p:cNvPr>
          <p:cNvSpPr/>
          <p:nvPr/>
        </p:nvSpPr>
        <p:spPr>
          <a:xfrm>
            <a:off x="136983" y="960023"/>
            <a:ext cx="11918033" cy="1569660"/>
          </a:xfrm>
          <a:prstGeom prst="rect">
            <a:avLst/>
          </a:prstGeom>
        </p:spPr>
        <p:txBody>
          <a:bodyPr wrap="square">
            <a:spAutoFit/>
          </a:bodyPr>
          <a:lstStyle/>
          <a:p>
            <a:r>
              <a:rPr lang="en-US" sz="2400" dirty="0"/>
              <a:t>Now we know how an LSTM work, let’s briefly look at the GRU. The GRU is the newer generation of Recurrent Neural networks and is pretty similar to an LSTM. GRU’s got rid of the cell state and used the hidden state to transfer information. It also only has two gates, a reset gate and update gate.</a:t>
            </a:r>
          </a:p>
        </p:txBody>
      </p:sp>
      <p:pic>
        <p:nvPicPr>
          <p:cNvPr id="6" name="Picture 5">
            <a:extLst>
              <a:ext uri="{FF2B5EF4-FFF2-40B4-BE49-F238E27FC236}">
                <a16:creationId xmlns:a16="http://schemas.microsoft.com/office/drawing/2014/main" id="{6455A6E7-5290-4FD3-9926-ECB4667B25F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20784" y="2498799"/>
            <a:ext cx="5217637" cy="4256230"/>
          </a:xfrm>
          <a:prstGeom prst="rect">
            <a:avLst/>
          </a:prstGeom>
        </p:spPr>
      </p:pic>
      <p:pic>
        <p:nvPicPr>
          <p:cNvPr id="10" name="Picture 9">
            <a:extLst>
              <a:ext uri="{FF2B5EF4-FFF2-40B4-BE49-F238E27FC236}">
                <a16:creationId xmlns:a16="http://schemas.microsoft.com/office/drawing/2014/main" id="{2A50D07F-60CF-442D-BF04-F732219D995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1263" y="3192898"/>
            <a:ext cx="6054736" cy="2868032"/>
          </a:xfrm>
          <a:prstGeom prst="rect">
            <a:avLst/>
          </a:prstGeom>
        </p:spPr>
      </p:pic>
    </p:spTree>
    <p:extLst>
      <p:ext uri="{BB962C8B-B14F-4D97-AF65-F5344CB8AC3E}">
        <p14:creationId xmlns:p14="http://schemas.microsoft.com/office/powerpoint/2010/main" val="2960915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8" name="object 2">
            <a:extLst>
              <a:ext uri="{FF2B5EF4-FFF2-40B4-BE49-F238E27FC236}">
                <a16:creationId xmlns:a16="http://schemas.microsoft.com/office/drawing/2014/main" id="{11C402F7-89FE-44B6-A236-6085670348AD}"/>
              </a:ext>
            </a:extLst>
          </p:cNvPr>
          <p:cNvSpPr txBox="1">
            <a:spLocks/>
          </p:cNvSpPr>
          <p:nvPr/>
        </p:nvSpPr>
        <p:spPr>
          <a:xfrm>
            <a:off x="1830410" y="685855"/>
            <a:ext cx="8758447" cy="695325"/>
          </a:xfrm>
          <a:prstGeom prst="rect">
            <a:avLst/>
          </a:prstGeom>
        </p:spPr>
        <p:txBody>
          <a:bodyPr vert="horz" lIns="91440" tIns="1270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latin typeface="+mn-lt"/>
              </a:rPr>
              <a:t>RNN vs LSTM vs GRU</a:t>
            </a:r>
          </a:p>
        </p:txBody>
      </p:sp>
      <p:pic>
        <p:nvPicPr>
          <p:cNvPr id="7" name="Picture 6">
            <a:extLst>
              <a:ext uri="{FF2B5EF4-FFF2-40B4-BE49-F238E27FC236}">
                <a16:creationId xmlns:a16="http://schemas.microsoft.com/office/drawing/2014/main" id="{D15F0DAC-2112-4399-932C-4CB12DA85FC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3568" y="2118243"/>
            <a:ext cx="10600008" cy="3561977"/>
          </a:xfrm>
          <a:prstGeom prst="rect">
            <a:avLst/>
          </a:prstGeom>
        </p:spPr>
      </p:pic>
    </p:spTree>
    <p:extLst>
      <p:ext uri="{BB962C8B-B14F-4D97-AF65-F5344CB8AC3E}">
        <p14:creationId xmlns:p14="http://schemas.microsoft.com/office/powerpoint/2010/main" val="842420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8" name="object 2">
            <a:extLst>
              <a:ext uri="{FF2B5EF4-FFF2-40B4-BE49-F238E27FC236}">
                <a16:creationId xmlns:a16="http://schemas.microsoft.com/office/drawing/2014/main" id="{11C402F7-89FE-44B6-A236-6085670348AD}"/>
              </a:ext>
            </a:extLst>
          </p:cNvPr>
          <p:cNvSpPr txBox="1">
            <a:spLocks/>
          </p:cNvSpPr>
          <p:nvPr/>
        </p:nvSpPr>
        <p:spPr>
          <a:xfrm>
            <a:off x="1841561" y="99180"/>
            <a:ext cx="8758447" cy="695325"/>
          </a:xfrm>
          <a:prstGeom prst="rect">
            <a:avLst/>
          </a:prstGeom>
        </p:spPr>
        <p:txBody>
          <a:bodyPr vert="horz" lIns="91440" tIns="1270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latin typeface="+mn-lt"/>
              </a:rPr>
              <a:t>RNN vs LSTM vs GRU</a:t>
            </a:r>
          </a:p>
        </p:txBody>
      </p:sp>
      <p:pic>
        <p:nvPicPr>
          <p:cNvPr id="7" name="Picture 6">
            <a:extLst>
              <a:ext uri="{FF2B5EF4-FFF2-40B4-BE49-F238E27FC236}">
                <a16:creationId xmlns:a16="http://schemas.microsoft.com/office/drawing/2014/main" id="{D15F0DAC-2112-4399-932C-4CB12DA85FC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72975" y="794505"/>
            <a:ext cx="7336786" cy="2465419"/>
          </a:xfrm>
          <a:prstGeom prst="rect">
            <a:avLst/>
          </a:prstGeom>
        </p:spPr>
      </p:pic>
      <p:sp>
        <p:nvSpPr>
          <p:cNvPr id="3" name="Rectangle 2">
            <a:extLst>
              <a:ext uri="{FF2B5EF4-FFF2-40B4-BE49-F238E27FC236}">
                <a16:creationId xmlns:a16="http://schemas.microsoft.com/office/drawing/2014/main" id="{61E7B511-73D9-4BD9-AC4E-CFE3FE74603F}"/>
              </a:ext>
            </a:extLst>
          </p:cNvPr>
          <p:cNvSpPr/>
          <p:nvPr/>
        </p:nvSpPr>
        <p:spPr>
          <a:xfrm>
            <a:off x="125145" y="3386220"/>
            <a:ext cx="11941709" cy="3693319"/>
          </a:xfrm>
          <a:prstGeom prst="rect">
            <a:avLst/>
          </a:prstGeom>
        </p:spPr>
        <p:txBody>
          <a:bodyPr wrap="square">
            <a:spAutoFit/>
          </a:bodyPr>
          <a:lstStyle/>
          <a:p>
            <a:pPr marL="285750" indent="-285750" fontAlgn="base">
              <a:buFont typeface="Arial" panose="020B0604020202020204" pitchFamily="34" charset="0"/>
              <a:buChar char="•"/>
            </a:pPr>
            <a:r>
              <a:rPr lang="en-US" dirty="0">
                <a:solidFill>
                  <a:srgbClr val="242729"/>
                </a:solidFill>
              </a:rPr>
              <a:t>The key difference between a GRU and an LSTM is that a GRU has two gates (reset and update gates) whereas an LSTM has three gates (namely input, output and forget gates).</a:t>
            </a:r>
          </a:p>
          <a:p>
            <a:pPr marL="285750" indent="-285750" fontAlgn="base">
              <a:buFont typeface="Arial" panose="020B0604020202020204" pitchFamily="34" charset="0"/>
              <a:buChar char="•"/>
            </a:pPr>
            <a:endParaRPr lang="en-US" dirty="0">
              <a:solidFill>
                <a:srgbClr val="242729"/>
              </a:solidFill>
            </a:endParaRPr>
          </a:p>
          <a:p>
            <a:pPr marL="285750" indent="-285750" fontAlgn="base">
              <a:buFont typeface="Arial" panose="020B0604020202020204" pitchFamily="34" charset="0"/>
              <a:buChar char="•"/>
            </a:pPr>
            <a:r>
              <a:rPr lang="en-US" dirty="0">
                <a:solidFill>
                  <a:srgbClr val="242729"/>
                </a:solidFill>
              </a:rPr>
              <a:t>GRUs train faster and perform better than LSTMs on less training data if you are doing language modeling (not sure about other tasks).</a:t>
            </a:r>
          </a:p>
          <a:p>
            <a:pPr marL="285750" indent="-285750" fontAlgn="base">
              <a:buFont typeface="Arial" panose="020B0604020202020204" pitchFamily="34" charset="0"/>
              <a:buChar char="•"/>
            </a:pPr>
            <a:endParaRPr lang="en-US" dirty="0">
              <a:solidFill>
                <a:srgbClr val="242729"/>
              </a:solidFill>
            </a:endParaRPr>
          </a:p>
          <a:p>
            <a:pPr marL="285750" indent="-285750" fontAlgn="base">
              <a:buFont typeface="Arial" panose="020B0604020202020204" pitchFamily="34" charset="0"/>
              <a:buChar char="•"/>
            </a:pPr>
            <a:r>
              <a:rPr lang="en-US" dirty="0">
                <a:solidFill>
                  <a:srgbClr val="242729"/>
                </a:solidFill>
              </a:rPr>
              <a:t>GRUs are simpler and thus easier to modify, for example adding new gates in case of additional input to the network. It's just less code in general.</a:t>
            </a:r>
          </a:p>
          <a:p>
            <a:pPr marL="285750" indent="-285750" fontAlgn="base">
              <a:buFont typeface="Arial" panose="020B0604020202020204" pitchFamily="34" charset="0"/>
              <a:buChar char="•"/>
            </a:pPr>
            <a:endParaRPr lang="en-US" dirty="0">
              <a:solidFill>
                <a:srgbClr val="242729"/>
              </a:solidFill>
            </a:endParaRPr>
          </a:p>
          <a:p>
            <a:pPr marL="285750" indent="-285750" fontAlgn="base">
              <a:buFont typeface="Arial" panose="020B0604020202020204" pitchFamily="34" charset="0"/>
              <a:buChar char="•"/>
            </a:pPr>
            <a:r>
              <a:rPr lang="en-US" dirty="0">
                <a:solidFill>
                  <a:srgbClr val="242729"/>
                </a:solidFill>
              </a:rPr>
              <a:t>LSTMs should in theory remember longer sequences than GRUs and outperform them in tasks requiring modeling long-distance relations.</a:t>
            </a:r>
          </a:p>
          <a:p>
            <a:pPr fontAlgn="base"/>
            <a:endParaRPr lang="en-US" dirty="0">
              <a:solidFill>
                <a:srgbClr val="242729"/>
              </a:solidFill>
            </a:endParaRPr>
          </a:p>
          <a:p>
            <a:pPr fontAlgn="base"/>
            <a:endParaRPr lang="en-US" dirty="0">
              <a:solidFill>
                <a:srgbClr val="242729"/>
              </a:solidFill>
              <a:effectLst/>
            </a:endParaRPr>
          </a:p>
        </p:txBody>
      </p:sp>
    </p:spTree>
    <p:extLst>
      <p:ext uri="{BB962C8B-B14F-4D97-AF65-F5344CB8AC3E}">
        <p14:creationId xmlns:p14="http://schemas.microsoft.com/office/powerpoint/2010/main" val="1233758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88647A0A518049BF4ABFF3F6413FD5" ma:contentTypeVersion="12" ma:contentTypeDescription="Create a new document." ma:contentTypeScope="" ma:versionID="73f37d7a791e8182f4d888ba6b7c4a34">
  <xsd:schema xmlns:xsd="http://www.w3.org/2001/XMLSchema" xmlns:xs="http://www.w3.org/2001/XMLSchema" xmlns:p="http://schemas.microsoft.com/office/2006/metadata/properties" xmlns:ns2="cb49ea42-c776-4921-925a-6f2d18d3f7cb" xmlns:ns3="7fb2fad2-2bec-4404-ace4-eb291a679560" targetNamespace="http://schemas.microsoft.com/office/2006/metadata/properties" ma:root="true" ma:fieldsID="045e34470b23eb9dfae0f36ebf78e2f1" ns2:_="" ns3:_="">
    <xsd:import namespace="cb49ea42-c776-4921-925a-6f2d18d3f7cb"/>
    <xsd:import namespace="7fb2fad2-2bec-4404-ace4-eb291a679560"/>
    <xsd:element name="properties">
      <xsd:complexType>
        <xsd:sequence>
          <xsd:element name="documentManagement">
            <xsd:complexType>
              <xsd:all>
                <xsd:element ref="ns2:MediaServiceMetadata" minOccurs="0"/>
                <xsd:element ref="ns2:MediaServiceFastMetadata"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49ea42-c776-4921-925a-6f2d18d3f7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0bf0ac1-f138-411d-9df9-4081be4fdb86"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fb2fad2-2bec-4404-ace4-eb291a67956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aaf4d7eb-dc8d-4a0e-a97a-3301eb27c62c}" ma:internalName="TaxCatchAll" ma:showField="CatchAllData" ma:web="7fb2fad2-2bec-4404-ace4-eb291a6795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b49ea42-c776-4921-925a-6f2d18d3f7cb">
      <Terms xmlns="http://schemas.microsoft.com/office/infopath/2007/PartnerControls"/>
    </lcf76f155ced4ddcb4097134ff3c332f>
    <TaxCatchAll xmlns="7fb2fad2-2bec-4404-ace4-eb291a679560" xsi:nil="true"/>
  </documentManagement>
</p:properties>
</file>

<file path=customXml/itemProps1.xml><?xml version="1.0" encoding="utf-8"?>
<ds:datastoreItem xmlns:ds="http://schemas.openxmlformats.org/officeDocument/2006/customXml" ds:itemID="{9D43968E-8D2C-4E9F-9639-DE299A01DFC1}"/>
</file>

<file path=customXml/itemProps2.xml><?xml version="1.0" encoding="utf-8"?>
<ds:datastoreItem xmlns:ds="http://schemas.openxmlformats.org/officeDocument/2006/customXml" ds:itemID="{2F985F45-9C58-48E5-BC0D-C7189FA47BB2}"/>
</file>

<file path=customXml/itemProps3.xml><?xml version="1.0" encoding="utf-8"?>
<ds:datastoreItem xmlns:ds="http://schemas.openxmlformats.org/officeDocument/2006/customXml" ds:itemID="{577EDC8A-6B64-4F49-A260-33F957033533}"/>
</file>

<file path=docProps/app.xml><?xml version="1.0" encoding="utf-8"?>
<Properties xmlns="http://schemas.openxmlformats.org/officeDocument/2006/extended-properties" xmlns:vt="http://schemas.openxmlformats.org/officeDocument/2006/docPropsVTypes">
  <TotalTime>28562</TotalTime>
  <Words>860</Words>
  <Application>Microsoft Macintosh PowerPoint</Application>
  <PresentationFormat>Widescreen</PresentationFormat>
  <Paragraphs>59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APPLE CHANCERY</vt:lpstr>
      <vt:lpstr>Arial</vt:lpstr>
      <vt:lpstr>Calibri</vt:lpstr>
      <vt:lpstr>Calibri Light</vt:lpstr>
      <vt:lpstr>medium-content-serif-font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dc:title>
  <dc:creator>Fahad Hussain</dc:creator>
  <cp:lastModifiedBy>Umang ` Kejriwal</cp:lastModifiedBy>
  <cp:revision>618</cp:revision>
  <dcterms:created xsi:type="dcterms:W3CDTF">2019-11-05T08:22:51Z</dcterms:created>
  <dcterms:modified xsi:type="dcterms:W3CDTF">2022-07-05T06:27:45Z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0x0101008C88647A0A518049BF4ABFF3F6413FD5</vt:lpwstr>
  </property>
</Properties>
</file>